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tkikuchi\Documents\&#29983;&#27963;&#19978;\&#26126;&#22823;&#26989;&#21209;&#29992;\PowerPoint\&#20316;&#26989;&#12501;&#12457;&#12523;&#12480;\20200420\&#26126;&#27835;&#22823;&#23398;&#12487;&#12540;&#12479;.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tkikuchi\Documents\&#29983;&#27963;&#19978;\&#26126;&#22823;&#26989;&#21209;&#29992;\PowerPoint\&#20316;&#26989;&#12501;&#12457;&#12523;&#12480;\20200420\&#26126;&#27835;&#22823;&#23398;&#12487;&#12540;&#12479;.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ja-JP"/>
              <a:t>学生数（男女比率）</a:t>
            </a:r>
          </a:p>
        </c:rich>
      </c:tx>
      <c:layout/>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ja-JP"/>
        </a:p>
      </c:txPr>
    </c:title>
    <c:autoTitleDeleted val="0"/>
    <c:plotArea>
      <c:layout/>
      <c:pieChart>
        <c:varyColors val="1"/>
        <c:ser>
          <c:idx val="0"/>
          <c:order val="0"/>
          <c:dPt>
            <c:idx val="0"/>
            <c:bubble3D val="0"/>
            <c:spPr>
              <a:solidFill>
                <a:schemeClr val="accent1"/>
              </a:solidFill>
              <a:ln>
                <a:noFill/>
              </a:ln>
              <a:effectLst>
                <a:outerShdw blurRad="635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1-5A02-4FBE-B751-8FDD8AC0C147}"/>
              </c:ext>
            </c:extLst>
          </c:dPt>
          <c:dPt>
            <c:idx val="1"/>
            <c:bubble3D val="0"/>
            <c:spPr>
              <a:solidFill>
                <a:schemeClr val="accent2"/>
              </a:solidFill>
              <a:ln>
                <a:noFill/>
              </a:ln>
              <a:effectLst>
                <a:outerShdw blurRad="635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2-5A02-4FBE-B751-8FDD8AC0C147}"/>
              </c:ext>
            </c:extLst>
          </c:dPt>
          <c:dLbls>
            <c:dLbl>
              <c:idx val="0"/>
              <c:spPr>
                <a:noFill/>
                <a:ln>
                  <a:noFill/>
                </a:ln>
                <a:effectLst/>
              </c:spPr>
              <c:txPr>
                <a:bodyPr rot="0" spcFirstLastPara="1" vertOverflow="ellipsis" vert="horz" wrap="square" lIns="38100" tIns="19050" rIns="38100" bIns="19050" anchor="ctr" anchorCtr="1">
                  <a:spAutoFit/>
                </a:bodyPr>
                <a:lstStyle/>
                <a:p>
                  <a:pPr>
                    <a:defRPr sz="1600" b="1" i="0" u="none" strike="noStrike" kern="1200" spc="0" baseline="0">
                      <a:solidFill>
                        <a:schemeClr val="accent1"/>
                      </a:solidFill>
                      <a:latin typeface="+mn-lt"/>
                      <a:ea typeface="+mn-ea"/>
                      <a:cs typeface="+mn-cs"/>
                    </a:defRPr>
                  </a:pPr>
                  <a:endParaRPr lang="ja-JP"/>
                </a:p>
              </c:txPr>
              <c:dLblPos val="outEnd"/>
              <c:showLegendKey val="0"/>
              <c:showVal val="0"/>
              <c:showCatName val="1"/>
              <c:showSerName val="0"/>
              <c:showPercent val="1"/>
              <c:showBubbleSize val="0"/>
            </c:dLbl>
            <c:dLbl>
              <c:idx val="1"/>
              <c:spPr>
                <a:noFill/>
                <a:ln>
                  <a:noFill/>
                </a:ln>
                <a:effectLst/>
              </c:spPr>
              <c:txPr>
                <a:bodyPr rot="0" spcFirstLastPara="1" vertOverflow="ellipsis" vert="horz" wrap="square" lIns="38100" tIns="19050" rIns="38100" bIns="19050" anchor="ctr" anchorCtr="1">
                  <a:spAutoFit/>
                </a:bodyPr>
                <a:lstStyle/>
                <a:p>
                  <a:pPr>
                    <a:defRPr sz="1600" b="1" i="0" u="none" strike="noStrike" kern="1200" spc="0" baseline="0">
                      <a:solidFill>
                        <a:schemeClr val="accent2"/>
                      </a:solidFill>
                      <a:latin typeface="+mn-lt"/>
                      <a:ea typeface="+mn-ea"/>
                      <a:cs typeface="+mn-cs"/>
                    </a:defRPr>
                  </a:pPr>
                  <a:endParaRPr lang="ja-JP"/>
                </a:p>
              </c:txPr>
              <c:dLblPos val="outEnd"/>
              <c:showLegendKey val="0"/>
              <c:showVal val="0"/>
              <c:showCatName val="1"/>
              <c:showSerName val="0"/>
              <c:showPercent val="1"/>
              <c:showBubbleSize val="0"/>
            </c:dLbl>
            <c:spPr>
              <a:noFill/>
              <a:ln>
                <a:noFill/>
              </a:ln>
              <a:effectLst/>
            </c:sp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xmlns:c15="http://schemas.microsoft.com/office/drawing/2012/chart" uri="{CE6537A1-D6FC-4f65-9D91-7224C49458BB}"/>
            </c:extLst>
          </c:dLbls>
          <c:cat>
            <c:strRef>
              <c:f>Sheet1!$A$3:$B$3</c:f>
              <c:strCache>
                <c:ptCount val="2"/>
                <c:pt idx="0">
                  <c:v>男子</c:v>
                </c:pt>
                <c:pt idx="1">
                  <c:v>女子</c:v>
                </c:pt>
              </c:strCache>
            </c:strRef>
          </c:cat>
          <c:val>
            <c:numRef>
              <c:f>Sheet1!$A$4:$B$4</c:f>
              <c:numCache>
                <c:formatCode>General</c:formatCode>
                <c:ptCount val="2"/>
                <c:pt idx="0">
                  <c:v>65</c:v>
                </c:pt>
                <c:pt idx="1">
                  <c:v>35</c:v>
                </c:pt>
              </c:numCache>
            </c:numRef>
          </c:val>
          <c:extLst xmlns:c16r2="http://schemas.microsoft.com/office/drawing/2015/06/chart">
            <c:ext xmlns:c16="http://schemas.microsoft.com/office/drawing/2014/chart" uri="{C3380CC4-5D6E-409C-BE32-E72D297353CC}">
              <c16:uniqueId val="{00000000-5A02-4FBE-B751-8FDD8AC0C147}"/>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ja-JP"/>
              <a:t>学生数（学部文理比率）</a:t>
            </a:r>
          </a:p>
        </c:rich>
      </c:tx>
      <c:layout/>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ja-JP"/>
        </a:p>
      </c:txPr>
    </c:title>
    <c:autoTitleDeleted val="0"/>
    <c:plotArea>
      <c:layout/>
      <c:pieChart>
        <c:varyColors val="1"/>
        <c:ser>
          <c:idx val="0"/>
          <c:order val="0"/>
          <c:dPt>
            <c:idx val="0"/>
            <c:bubble3D val="0"/>
            <c:spPr>
              <a:solidFill>
                <a:schemeClr val="accent1"/>
              </a:solidFill>
              <a:ln>
                <a:noFill/>
              </a:ln>
              <a:effectLst>
                <a:outerShdw blurRad="635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2-6512-463D-8199-2D599BF0C425}"/>
              </c:ext>
            </c:extLst>
          </c:dPt>
          <c:dPt>
            <c:idx val="1"/>
            <c:bubble3D val="0"/>
            <c:spPr>
              <a:solidFill>
                <a:schemeClr val="accent2"/>
              </a:solidFill>
              <a:ln>
                <a:noFill/>
              </a:ln>
              <a:effectLst>
                <a:outerShdw blurRad="635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1-6512-463D-8199-2D599BF0C425}"/>
              </c:ext>
            </c:extLst>
          </c:dPt>
          <c:dLbls>
            <c:dLbl>
              <c:idx val="0"/>
              <c:spPr>
                <a:noFill/>
                <a:ln>
                  <a:noFill/>
                </a:ln>
                <a:effectLst/>
              </c:spPr>
              <c:txPr>
                <a:bodyPr rot="0" spcFirstLastPara="1" vertOverflow="ellipsis" vert="horz" wrap="square" lIns="38100" tIns="19050" rIns="38100" bIns="19050" anchor="ctr" anchorCtr="1">
                  <a:spAutoFit/>
                </a:bodyPr>
                <a:lstStyle/>
                <a:p>
                  <a:pPr>
                    <a:defRPr sz="1600" b="1" i="0" u="none" strike="noStrike" kern="1200" spc="0" baseline="0">
                      <a:solidFill>
                        <a:schemeClr val="accent1"/>
                      </a:solidFill>
                      <a:latin typeface="+mn-lt"/>
                      <a:ea typeface="+mn-ea"/>
                      <a:cs typeface="+mn-cs"/>
                    </a:defRPr>
                  </a:pPr>
                  <a:endParaRPr lang="ja-JP"/>
                </a:p>
              </c:txPr>
              <c:dLblPos val="outEnd"/>
              <c:showLegendKey val="0"/>
              <c:showVal val="0"/>
              <c:showCatName val="1"/>
              <c:showSerName val="0"/>
              <c:showPercent val="1"/>
              <c:showBubbleSize val="0"/>
            </c:dLbl>
            <c:dLbl>
              <c:idx val="1"/>
              <c:layout>
                <c:manualLayout>
                  <c:x val="2.8985507246376279E-3"/>
                  <c:y val="4.1666666666666644E-2"/>
                </c:manualLayout>
              </c:layout>
              <c:spPr>
                <a:noFill/>
                <a:ln>
                  <a:noFill/>
                </a:ln>
                <a:effectLst/>
              </c:spPr>
              <c:txPr>
                <a:bodyPr rot="0" spcFirstLastPara="1" vertOverflow="ellipsis" vert="horz" wrap="square" lIns="38100" tIns="19050" rIns="38100" bIns="19050" anchor="ctr" anchorCtr="1">
                  <a:spAutoFit/>
                </a:bodyPr>
                <a:lstStyle/>
                <a:p>
                  <a:pPr>
                    <a:defRPr sz="1600" b="1" i="0" u="none" strike="noStrike" kern="1200" spc="0" baseline="0">
                      <a:solidFill>
                        <a:schemeClr val="accent2"/>
                      </a:solidFill>
                      <a:latin typeface="+mn-lt"/>
                      <a:ea typeface="+mn-ea"/>
                      <a:cs typeface="+mn-cs"/>
                    </a:defRPr>
                  </a:pPr>
                  <a:endParaRPr lang="ja-JP"/>
                </a:p>
              </c:txPr>
              <c:dLblPos val="bestFit"/>
              <c:showLegendKey val="0"/>
              <c:showVal val="0"/>
              <c:showCatName val="1"/>
              <c:showSerName val="0"/>
              <c:showPercent val="1"/>
              <c:showBubbleSize val="0"/>
              <c:extLst xmlns:c16r2="http://schemas.microsoft.com/office/drawing/2015/06/chart">
                <c:ext xmlns:c16="http://schemas.microsoft.com/office/drawing/2014/chart" uri="{C3380CC4-5D6E-409C-BE32-E72D297353CC}">
                  <c16:uniqueId val="{00000001-6512-463D-8199-2D599BF0C425}"/>
                </c:ext>
                <c:ext xmlns:c15="http://schemas.microsoft.com/office/drawing/2012/chart" uri="{CE6537A1-D6FC-4f65-9D91-7224C49458BB}">
                  <c15:layout/>
                </c:ext>
              </c:extLst>
            </c:dLbl>
            <c:spPr>
              <a:noFill/>
              <a:ln>
                <a:noFill/>
              </a:ln>
              <a:effectLst/>
            </c:sp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xmlns:c15="http://schemas.microsoft.com/office/drawing/2012/chart" uri="{CE6537A1-D6FC-4f65-9D91-7224C49458BB}"/>
            </c:extLst>
          </c:dLbls>
          <c:cat>
            <c:strRef>
              <c:f>Sheet1!$A$9:$B$9</c:f>
              <c:strCache>
                <c:ptCount val="2"/>
                <c:pt idx="0">
                  <c:v>文系</c:v>
                </c:pt>
                <c:pt idx="1">
                  <c:v>理系</c:v>
                </c:pt>
              </c:strCache>
            </c:strRef>
          </c:cat>
          <c:val>
            <c:numRef>
              <c:f>Sheet1!$A$10:$B$10</c:f>
              <c:numCache>
                <c:formatCode>General</c:formatCode>
                <c:ptCount val="2"/>
                <c:pt idx="0">
                  <c:v>76</c:v>
                </c:pt>
                <c:pt idx="1">
                  <c:v>24</c:v>
                </c:pt>
              </c:numCache>
            </c:numRef>
          </c:val>
          <c:extLst xmlns:c16r2="http://schemas.microsoft.com/office/drawing/2015/06/chart">
            <c:ext xmlns:c16="http://schemas.microsoft.com/office/drawing/2014/chart" uri="{C3380CC4-5D6E-409C-BE32-E72D297353CC}">
              <c16:uniqueId val="{00000000-6512-463D-8199-2D599BF0C425}"/>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slide" Target="../slides/slide4.xml"/><Relationship Id="rId1" Type="http://schemas.openxmlformats.org/officeDocument/2006/relationships/slide" Target="../slides/slide3.xml"/><Relationship Id="rId4"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08071B-BC59-4E9B-9691-95936B3D9E3E}"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kumimoji="1" lang="ja-JP" altLang="en-US"/>
        </a:p>
      </dgm:t>
    </dgm:pt>
    <dgm:pt modelId="{6C3E25C5-4426-4F79-B20D-7A4839A44AA7}">
      <dgm:prSet phldrT="[テキスト]"/>
      <dgm:spPr/>
      <dgm:t>
        <a:bodyPr/>
        <a:lstStyle/>
        <a:p>
          <a:r>
            <a:rPr kumimoji="1" lang="ja-JP" altLang="en-US" dirty="0" smtClean="0">
              <a:hlinkClick xmlns:r="http://schemas.openxmlformats.org/officeDocument/2006/relationships" r:id="rId1" action="ppaction://hlinksldjump"/>
            </a:rPr>
            <a:t>明治大学の理念</a:t>
          </a:r>
          <a:endParaRPr kumimoji="1" lang="ja-JP" altLang="en-US" dirty="0"/>
        </a:p>
      </dgm:t>
    </dgm:pt>
    <dgm:pt modelId="{BC1B8C95-0A6E-4E24-B044-7000E0E149F8}" type="parTrans" cxnId="{55207DB5-B042-4530-B2AA-37E48270B00A}">
      <dgm:prSet/>
      <dgm:spPr/>
      <dgm:t>
        <a:bodyPr/>
        <a:lstStyle/>
        <a:p>
          <a:endParaRPr kumimoji="1" lang="ja-JP" altLang="en-US"/>
        </a:p>
      </dgm:t>
    </dgm:pt>
    <dgm:pt modelId="{CC8E472A-1B5D-4634-9EED-28052FE48D9C}" type="sibTrans" cxnId="{55207DB5-B042-4530-B2AA-37E48270B00A}">
      <dgm:prSet/>
      <dgm:spPr/>
      <dgm:t>
        <a:bodyPr/>
        <a:lstStyle/>
        <a:p>
          <a:endParaRPr kumimoji="1" lang="ja-JP" altLang="en-US"/>
        </a:p>
      </dgm:t>
    </dgm:pt>
    <dgm:pt modelId="{4DE08C00-DFB7-4352-9E80-7113C006B159}">
      <dgm:prSet phldrT="[テキスト]"/>
      <dgm:spPr/>
      <dgm:t>
        <a:bodyPr/>
        <a:lstStyle/>
        <a:p>
          <a:r>
            <a:rPr kumimoji="1" lang="ja-JP" altLang="en-US" dirty="0" smtClean="0">
              <a:hlinkClick xmlns:r="http://schemas.openxmlformats.org/officeDocument/2006/relationships" r:id="rId2" action="ppaction://hlinksldjump"/>
            </a:rPr>
            <a:t>データでみる明治大学</a:t>
          </a:r>
          <a:endParaRPr kumimoji="1" lang="ja-JP" altLang="en-US" dirty="0"/>
        </a:p>
      </dgm:t>
    </dgm:pt>
    <dgm:pt modelId="{C2925587-AE7D-49D6-BB56-EF4BCE371A72}" type="parTrans" cxnId="{4C177068-7362-4E27-9AD1-0CB8B9E11E31}">
      <dgm:prSet/>
      <dgm:spPr/>
      <dgm:t>
        <a:bodyPr/>
        <a:lstStyle/>
        <a:p>
          <a:endParaRPr kumimoji="1" lang="ja-JP" altLang="en-US"/>
        </a:p>
      </dgm:t>
    </dgm:pt>
    <dgm:pt modelId="{57A3974F-8560-4F57-8D15-F0F255C33143}" type="sibTrans" cxnId="{4C177068-7362-4E27-9AD1-0CB8B9E11E31}">
      <dgm:prSet/>
      <dgm:spPr/>
      <dgm:t>
        <a:bodyPr/>
        <a:lstStyle/>
        <a:p>
          <a:endParaRPr kumimoji="1" lang="ja-JP" altLang="en-US"/>
        </a:p>
      </dgm:t>
    </dgm:pt>
    <dgm:pt modelId="{5E2B892D-D896-4FDC-B0B6-6BAA019DC23D}">
      <dgm:prSet phldrT="[テキスト]"/>
      <dgm:spPr/>
      <dgm:t>
        <a:bodyPr/>
        <a:lstStyle/>
        <a:p>
          <a:r>
            <a:rPr kumimoji="1" lang="ja-JP" altLang="en-US" dirty="0" smtClean="0">
              <a:hlinkClick xmlns:r="http://schemas.openxmlformats.org/officeDocument/2006/relationships" r:id="rId3" action="ppaction://hlinksldjump"/>
            </a:rPr>
            <a:t>明治大学公式キャラクター「めいじろう」</a:t>
          </a:r>
          <a:endParaRPr kumimoji="1" lang="ja-JP" altLang="en-US" dirty="0"/>
        </a:p>
      </dgm:t>
    </dgm:pt>
    <dgm:pt modelId="{30634DBD-1F9A-4CE9-8149-50080F3AF611}" type="parTrans" cxnId="{9A5585AF-EA92-44CE-9DAE-A7E78E79A13D}">
      <dgm:prSet/>
      <dgm:spPr/>
      <dgm:t>
        <a:bodyPr/>
        <a:lstStyle/>
        <a:p>
          <a:endParaRPr kumimoji="1" lang="ja-JP" altLang="en-US"/>
        </a:p>
      </dgm:t>
    </dgm:pt>
    <dgm:pt modelId="{4534832A-EF0A-4F07-91FA-B95553AA4BD2}" type="sibTrans" cxnId="{9A5585AF-EA92-44CE-9DAE-A7E78E79A13D}">
      <dgm:prSet/>
      <dgm:spPr/>
      <dgm:t>
        <a:bodyPr/>
        <a:lstStyle/>
        <a:p>
          <a:endParaRPr kumimoji="1" lang="ja-JP" altLang="en-US"/>
        </a:p>
      </dgm:t>
    </dgm:pt>
    <dgm:pt modelId="{3BE5D63E-183E-4DBE-A404-95EE30A69F0A}">
      <dgm:prSet phldrT="[テキスト]"/>
      <dgm:spPr/>
      <dgm:t>
        <a:bodyPr/>
        <a:lstStyle/>
        <a:p>
          <a:r>
            <a:rPr kumimoji="1" lang="ja-JP" altLang="en-US" dirty="0" smtClean="0">
              <a:hlinkClick xmlns:r="http://schemas.openxmlformats.org/officeDocument/2006/relationships" r:id="rId4" action="ppaction://hlinksldjump"/>
            </a:rPr>
            <a:t>明治大学生田キャンパスへのアクセス</a:t>
          </a:r>
          <a:endParaRPr kumimoji="1" lang="ja-JP" altLang="en-US" dirty="0"/>
        </a:p>
      </dgm:t>
    </dgm:pt>
    <dgm:pt modelId="{714B2529-7F01-419F-9412-611E46211B25}" type="parTrans" cxnId="{7597935D-731E-4924-AED2-9DCAE8942527}">
      <dgm:prSet/>
      <dgm:spPr/>
      <dgm:t>
        <a:bodyPr/>
        <a:lstStyle/>
        <a:p>
          <a:endParaRPr kumimoji="1" lang="ja-JP" altLang="en-US"/>
        </a:p>
      </dgm:t>
    </dgm:pt>
    <dgm:pt modelId="{748D6079-C5EE-44C1-892E-5F0F073CF27D}" type="sibTrans" cxnId="{7597935D-731E-4924-AED2-9DCAE8942527}">
      <dgm:prSet/>
      <dgm:spPr/>
      <dgm:t>
        <a:bodyPr/>
        <a:lstStyle/>
        <a:p>
          <a:endParaRPr kumimoji="1" lang="ja-JP" altLang="en-US"/>
        </a:p>
      </dgm:t>
    </dgm:pt>
    <dgm:pt modelId="{1803AD60-78AA-4C8E-868D-22E57B5FC866}" type="pres">
      <dgm:prSet presAssocID="{1B08071B-BC59-4E9B-9691-95936B3D9E3E}" presName="vert0" presStyleCnt="0">
        <dgm:presLayoutVars>
          <dgm:dir/>
          <dgm:animOne val="branch"/>
          <dgm:animLvl val="lvl"/>
        </dgm:presLayoutVars>
      </dgm:prSet>
      <dgm:spPr/>
      <dgm:t>
        <a:bodyPr/>
        <a:lstStyle/>
        <a:p>
          <a:endParaRPr kumimoji="1" lang="ja-JP" altLang="en-US"/>
        </a:p>
      </dgm:t>
    </dgm:pt>
    <dgm:pt modelId="{0ED07BEC-AAC1-468F-97E5-70CAFA2F01B6}" type="pres">
      <dgm:prSet presAssocID="{6C3E25C5-4426-4F79-B20D-7A4839A44AA7}" presName="thickLine" presStyleLbl="alignNode1" presStyleIdx="0" presStyleCnt="4"/>
      <dgm:spPr/>
    </dgm:pt>
    <dgm:pt modelId="{6A2038DA-8297-4BD8-9BF0-BDC927652A10}" type="pres">
      <dgm:prSet presAssocID="{6C3E25C5-4426-4F79-B20D-7A4839A44AA7}" presName="horz1" presStyleCnt="0"/>
      <dgm:spPr/>
    </dgm:pt>
    <dgm:pt modelId="{2BB28A58-D472-452F-AF21-19DFDF81F698}" type="pres">
      <dgm:prSet presAssocID="{6C3E25C5-4426-4F79-B20D-7A4839A44AA7}" presName="tx1" presStyleLbl="revTx" presStyleIdx="0" presStyleCnt="4"/>
      <dgm:spPr/>
      <dgm:t>
        <a:bodyPr/>
        <a:lstStyle/>
        <a:p>
          <a:endParaRPr kumimoji="1" lang="ja-JP" altLang="en-US"/>
        </a:p>
      </dgm:t>
    </dgm:pt>
    <dgm:pt modelId="{8426D903-B914-442C-9C52-2A46C2F452AC}" type="pres">
      <dgm:prSet presAssocID="{6C3E25C5-4426-4F79-B20D-7A4839A44AA7}" presName="vert1" presStyleCnt="0"/>
      <dgm:spPr/>
    </dgm:pt>
    <dgm:pt modelId="{2A6235DF-76E8-49E3-A277-0DF39892DCC7}" type="pres">
      <dgm:prSet presAssocID="{4DE08C00-DFB7-4352-9E80-7113C006B159}" presName="thickLine" presStyleLbl="alignNode1" presStyleIdx="1" presStyleCnt="4"/>
      <dgm:spPr/>
    </dgm:pt>
    <dgm:pt modelId="{BE63A8C3-70B1-4DA5-A36C-9E715F853B0B}" type="pres">
      <dgm:prSet presAssocID="{4DE08C00-DFB7-4352-9E80-7113C006B159}" presName="horz1" presStyleCnt="0"/>
      <dgm:spPr/>
    </dgm:pt>
    <dgm:pt modelId="{A21697A6-3C9D-4147-B03B-199A09E7D010}" type="pres">
      <dgm:prSet presAssocID="{4DE08C00-DFB7-4352-9E80-7113C006B159}" presName="tx1" presStyleLbl="revTx" presStyleIdx="1" presStyleCnt="4"/>
      <dgm:spPr/>
      <dgm:t>
        <a:bodyPr/>
        <a:lstStyle/>
        <a:p>
          <a:endParaRPr kumimoji="1" lang="ja-JP" altLang="en-US"/>
        </a:p>
      </dgm:t>
    </dgm:pt>
    <dgm:pt modelId="{1D9F5856-C664-4D5F-877F-2E947A774F2B}" type="pres">
      <dgm:prSet presAssocID="{4DE08C00-DFB7-4352-9E80-7113C006B159}" presName="vert1" presStyleCnt="0"/>
      <dgm:spPr/>
    </dgm:pt>
    <dgm:pt modelId="{7CF7F44B-6C24-4075-8077-6B6ED1F548D7}" type="pres">
      <dgm:prSet presAssocID="{3BE5D63E-183E-4DBE-A404-95EE30A69F0A}" presName="thickLine" presStyleLbl="alignNode1" presStyleIdx="2" presStyleCnt="4"/>
      <dgm:spPr/>
    </dgm:pt>
    <dgm:pt modelId="{02C80973-E775-4D44-8DA0-2BD4C40B156A}" type="pres">
      <dgm:prSet presAssocID="{3BE5D63E-183E-4DBE-A404-95EE30A69F0A}" presName="horz1" presStyleCnt="0"/>
      <dgm:spPr/>
    </dgm:pt>
    <dgm:pt modelId="{216BA673-C957-4232-879C-F7A3711BB178}" type="pres">
      <dgm:prSet presAssocID="{3BE5D63E-183E-4DBE-A404-95EE30A69F0A}" presName="tx1" presStyleLbl="revTx" presStyleIdx="2" presStyleCnt="4"/>
      <dgm:spPr/>
      <dgm:t>
        <a:bodyPr/>
        <a:lstStyle/>
        <a:p>
          <a:endParaRPr kumimoji="1" lang="ja-JP" altLang="en-US"/>
        </a:p>
      </dgm:t>
    </dgm:pt>
    <dgm:pt modelId="{9205EC52-05B6-4F02-9A09-1B1D835795F1}" type="pres">
      <dgm:prSet presAssocID="{3BE5D63E-183E-4DBE-A404-95EE30A69F0A}" presName="vert1" presStyleCnt="0"/>
      <dgm:spPr/>
    </dgm:pt>
    <dgm:pt modelId="{C04847C4-F46E-4A26-9109-9A4B69A6A4BB}" type="pres">
      <dgm:prSet presAssocID="{5E2B892D-D896-4FDC-B0B6-6BAA019DC23D}" presName="thickLine" presStyleLbl="alignNode1" presStyleIdx="3" presStyleCnt="4"/>
      <dgm:spPr/>
    </dgm:pt>
    <dgm:pt modelId="{55ADB18B-5E49-4D6B-9D6B-1033A0A6831B}" type="pres">
      <dgm:prSet presAssocID="{5E2B892D-D896-4FDC-B0B6-6BAA019DC23D}" presName="horz1" presStyleCnt="0"/>
      <dgm:spPr/>
    </dgm:pt>
    <dgm:pt modelId="{5C5B824D-E01E-4390-98C2-9F22AE15AD0B}" type="pres">
      <dgm:prSet presAssocID="{5E2B892D-D896-4FDC-B0B6-6BAA019DC23D}" presName="tx1" presStyleLbl="revTx" presStyleIdx="3" presStyleCnt="4"/>
      <dgm:spPr/>
      <dgm:t>
        <a:bodyPr/>
        <a:lstStyle/>
        <a:p>
          <a:endParaRPr kumimoji="1" lang="ja-JP" altLang="en-US"/>
        </a:p>
      </dgm:t>
    </dgm:pt>
    <dgm:pt modelId="{9A995C95-CCFD-4D91-AB3B-C273FC334E8E}" type="pres">
      <dgm:prSet presAssocID="{5E2B892D-D896-4FDC-B0B6-6BAA019DC23D}" presName="vert1" presStyleCnt="0"/>
      <dgm:spPr/>
    </dgm:pt>
  </dgm:ptLst>
  <dgm:cxnLst>
    <dgm:cxn modelId="{EC7338A6-58F9-4811-BDA3-97E39FBFDF36}" type="presOf" srcId="{1B08071B-BC59-4E9B-9691-95936B3D9E3E}" destId="{1803AD60-78AA-4C8E-868D-22E57B5FC866}" srcOrd="0" destOrd="0" presId="urn:microsoft.com/office/officeart/2008/layout/LinedList"/>
    <dgm:cxn modelId="{9A5585AF-EA92-44CE-9DAE-A7E78E79A13D}" srcId="{1B08071B-BC59-4E9B-9691-95936B3D9E3E}" destId="{5E2B892D-D896-4FDC-B0B6-6BAA019DC23D}" srcOrd="3" destOrd="0" parTransId="{30634DBD-1F9A-4CE9-8149-50080F3AF611}" sibTransId="{4534832A-EF0A-4F07-91FA-B95553AA4BD2}"/>
    <dgm:cxn modelId="{4C177068-7362-4E27-9AD1-0CB8B9E11E31}" srcId="{1B08071B-BC59-4E9B-9691-95936B3D9E3E}" destId="{4DE08C00-DFB7-4352-9E80-7113C006B159}" srcOrd="1" destOrd="0" parTransId="{C2925587-AE7D-49D6-BB56-EF4BCE371A72}" sibTransId="{57A3974F-8560-4F57-8D15-F0F255C33143}"/>
    <dgm:cxn modelId="{66AAEAEB-04FE-491A-8F44-AE4A79D4C056}" type="presOf" srcId="{3BE5D63E-183E-4DBE-A404-95EE30A69F0A}" destId="{216BA673-C957-4232-879C-F7A3711BB178}" srcOrd="0" destOrd="0" presId="urn:microsoft.com/office/officeart/2008/layout/LinedList"/>
    <dgm:cxn modelId="{E3FA8B52-2C10-4A76-BCB9-26A99B1FCF79}" type="presOf" srcId="{5E2B892D-D896-4FDC-B0B6-6BAA019DC23D}" destId="{5C5B824D-E01E-4390-98C2-9F22AE15AD0B}" srcOrd="0" destOrd="0" presId="urn:microsoft.com/office/officeart/2008/layout/LinedList"/>
    <dgm:cxn modelId="{0F86F93E-8AC7-4431-9F28-AE4A7A8139B7}" type="presOf" srcId="{4DE08C00-DFB7-4352-9E80-7113C006B159}" destId="{A21697A6-3C9D-4147-B03B-199A09E7D010}" srcOrd="0" destOrd="0" presId="urn:microsoft.com/office/officeart/2008/layout/LinedList"/>
    <dgm:cxn modelId="{55207DB5-B042-4530-B2AA-37E48270B00A}" srcId="{1B08071B-BC59-4E9B-9691-95936B3D9E3E}" destId="{6C3E25C5-4426-4F79-B20D-7A4839A44AA7}" srcOrd="0" destOrd="0" parTransId="{BC1B8C95-0A6E-4E24-B044-7000E0E149F8}" sibTransId="{CC8E472A-1B5D-4634-9EED-28052FE48D9C}"/>
    <dgm:cxn modelId="{7597935D-731E-4924-AED2-9DCAE8942527}" srcId="{1B08071B-BC59-4E9B-9691-95936B3D9E3E}" destId="{3BE5D63E-183E-4DBE-A404-95EE30A69F0A}" srcOrd="2" destOrd="0" parTransId="{714B2529-7F01-419F-9412-611E46211B25}" sibTransId="{748D6079-C5EE-44C1-892E-5F0F073CF27D}"/>
    <dgm:cxn modelId="{1EAD8E2E-F3E0-4562-8F71-71957F19F3B1}" type="presOf" srcId="{6C3E25C5-4426-4F79-B20D-7A4839A44AA7}" destId="{2BB28A58-D472-452F-AF21-19DFDF81F698}" srcOrd="0" destOrd="0" presId="urn:microsoft.com/office/officeart/2008/layout/LinedList"/>
    <dgm:cxn modelId="{995EE96B-4557-4820-B6FE-AEAB7877BFFB}" type="presParOf" srcId="{1803AD60-78AA-4C8E-868D-22E57B5FC866}" destId="{0ED07BEC-AAC1-468F-97E5-70CAFA2F01B6}" srcOrd="0" destOrd="0" presId="urn:microsoft.com/office/officeart/2008/layout/LinedList"/>
    <dgm:cxn modelId="{C9F03ED3-86C4-4AE6-8B5A-4DDC9EE1B6EB}" type="presParOf" srcId="{1803AD60-78AA-4C8E-868D-22E57B5FC866}" destId="{6A2038DA-8297-4BD8-9BF0-BDC927652A10}" srcOrd="1" destOrd="0" presId="urn:microsoft.com/office/officeart/2008/layout/LinedList"/>
    <dgm:cxn modelId="{C88DAF93-6673-4782-BCED-E6D0CD9174F7}" type="presParOf" srcId="{6A2038DA-8297-4BD8-9BF0-BDC927652A10}" destId="{2BB28A58-D472-452F-AF21-19DFDF81F698}" srcOrd="0" destOrd="0" presId="urn:microsoft.com/office/officeart/2008/layout/LinedList"/>
    <dgm:cxn modelId="{20517A47-F3FA-4028-8235-B5BD49293C5C}" type="presParOf" srcId="{6A2038DA-8297-4BD8-9BF0-BDC927652A10}" destId="{8426D903-B914-442C-9C52-2A46C2F452AC}" srcOrd="1" destOrd="0" presId="urn:microsoft.com/office/officeart/2008/layout/LinedList"/>
    <dgm:cxn modelId="{18358C27-DB35-457A-988B-C5A7D5F0E442}" type="presParOf" srcId="{1803AD60-78AA-4C8E-868D-22E57B5FC866}" destId="{2A6235DF-76E8-49E3-A277-0DF39892DCC7}" srcOrd="2" destOrd="0" presId="urn:microsoft.com/office/officeart/2008/layout/LinedList"/>
    <dgm:cxn modelId="{F933CFC0-CE51-4990-8C15-147B07CEAB86}" type="presParOf" srcId="{1803AD60-78AA-4C8E-868D-22E57B5FC866}" destId="{BE63A8C3-70B1-4DA5-A36C-9E715F853B0B}" srcOrd="3" destOrd="0" presId="urn:microsoft.com/office/officeart/2008/layout/LinedList"/>
    <dgm:cxn modelId="{EE08A2B7-FEB3-40BD-BC45-7CE3A114CC9C}" type="presParOf" srcId="{BE63A8C3-70B1-4DA5-A36C-9E715F853B0B}" destId="{A21697A6-3C9D-4147-B03B-199A09E7D010}" srcOrd="0" destOrd="0" presId="urn:microsoft.com/office/officeart/2008/layout/LinedList"/>
    <dgm:cxn modelId="{0300BA11-D697-4717-9D11-6D0AED1B53D8}" type="presParOf" srcId="{BE63A8C3-70B1-4DA5-A36C-9E715F853B0B}" destId="{1D9F5856-C664-4D5F-877F-2E947A774F2B}" srcOrd="1" destOrd="0" presId="urn:microsoft.com/office/officeart/2008/layout/LinedList"/>
    <dgm:cxn modelId="{14C676BF-4AF8-4D19-BC3C-07A403F4AA9B}" type="presParOf" srcId="{1803AD60-78AA-4C8E-868D-22E57B5FC866}" destId="{7CF7F44B-6C24-4075-8077-6B6ED1F548D7}" srcOrd="4" destOrd="0" presId="urn:microsoft.com/office/officeart/2008/layout/LinedList"/>
    <dgm:cxn modelId="{7557D669-C275-4474-BD34-708A4BDCCF78}" type="presParOf" srcId="{1803AD60-78AA-4C8E-868D-22E57B5FC866}" destId="{02C80973-E775-4D44-8DA0-2BD4C40B156A}" srcOrd="5" destOrd="0" presId="urn:microsoft.com/office/officeart/2008/layout/LinedList"/>
    <dgm:cxn modelId="{EDE260B4-73C0-417D-A51B-A50B1C07ED13}" type="presParOf" srcId="{02C80973-E775-4D44-8DA0-2BD4C40B156A}" destId="{216BA673-C957-4232-879C-F7A3711BB178}" srcOrd="0" destOrd="0" presId="urn:microsoft.com/office/officeart/2008/layout/LinedList"/>
    <dgm:cxn modelId="{D8F278C5-DE19-41EC-9C77-87FD6A074AC8}" type="presParOf" srcId="{02C80973-E775-4D44-8DA0-2BD4C40B156A}" destId="{9205EC52-05B6-4F02-9A09-1B1D835795F1}" srcOrd="1" destOrd="0" presId="urn:microsoft.com/office/officeart/2008/layout/LinedList"/>
    <dgm:cxn modelId="{7C950EF7-7014-49E3-8988-BB34BEAB2091}" type="presParOf" srcId="{1803AD60-78AA-4C8E-868D-22E57B5FC866}" destId="{C04847C4-F46E-4A26-9109-9A4B69A6A4BB}" srcOrd="6" destOrd="0" presId="urn:microsoft.com/office/officeart/2008/layout/LinedList"/>
    <dgm:cxn modelId="{A5F216AB-E477-4470-A46D-7044FB78249B}" type="presParOf" srcId="{1803AD60-78AA-4C8E-868D-22E57B5FC866}" destId="{55ADB18B-5E49-4D6B-9D6B-1033A0A6831B}" srcOrd="7" destOrd="0" presId="urn:microsoft.com/office/officeart/2008/layout/LinedList"/>
    <dgm:cxn modelId="{F45C9E56-E3D2-4A04-997A-F316F81BC240}" type="presParOf" srcId="{55ADB18B-5E49-4D6B-9D6B-1033A0A6831B}" destId="{5C5B824D-E01E-4390-98C2-9F22AE15AD0B}" srcOrd="0" destOrd="0" presId="urn:microsoft.com/office/officeart/2008/layout/LinedList"/>
    <dgm:cxn modelId="{40C4F83C-97DA-4FB6-BE1D-AC0166CCC330}" type="presParOf" srcId="{55ADB18B-5E49-4D6B-9D6B-1033A0A6831B}" destId="{9A995C95-CCFD-4D91-AB3B-C273FC334E8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D07BEC-AAC1-468F-97E5-70CAFA2F01B6}">
      <dsp:nvSpPr>
        <dsp:cNvPr id="0" name=""/>
        <dsp:cNvSpPr/>
      </dsp:nvSpPr>
      <dsp:spPr>
        <a:xfrm>
          <a:off x="0" y="0"/>
          <a:ext cx="81280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B28A58-D472-452F-AF21-19DFDF81F698}">
      <dsp:nvSpPr>
        <dsp:cNvPr id="0" name=""/>
        <dsp:cNvSpPr/>
      </dsp:nvSpPr>
      <dsp:spPr>
        <a:xfrm>
          <a:off x="0" y="0"/>
          <a:ext cx="8128000" cy="1136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90000"/>
            </a:lnSpc>
            <a:spcBef>
              <a:spcPct val="0"/>
            </a:spcBef>
            <a:spcAft>
              <a:spcPct val="35000"/>
            </a:spcAft>
          </a:pPr>
          <a:r>
            <a:rPr kumimoji="1" lang="ja-JP" altLang="en-US" sz="3200" kern="1200" dirty="0" smtClean="0">
              <a:hlinkClick xmlns:r="http://schemas.openxmlformats.org/officeDocument/2006/relationships" r:id="" action="ppaction://hlinksldjump"/>
            </a:rPr>
            <a:t>明治大学の理念</a:t>
          </a:r>
          <a:endParaRPr kumimoji="1" lang="ja-JP" altLang="en-US" sz="3200" kern="1200" dirty="0"/>
        </a:p>
      </dsp:txBody>
      <dsp:txXfrm>
        <a:off x="0" y="0"/>
        <a:ext cx="8128000" cy="1136649"/>
      </dsp:txXfrm>
    </dsp:sp>
    <dsp:sp modelId="{2A6235DF-76E8-49E3-A277-0DF39892DCC7}">
      <dsp:nvSpPr>
        <dsp:cNvPr id="0" name=""/>
        <dsp:cNvSpPr/>
      </dsp:nvSpPr>
      <dsp:spPr>
        <a:xfrm>
          <a:off x="0" y="1136649"/>
          <a:ext cx="81280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1697A6-3C9D-4147-B03B-199A09E7D010}">
      <dsp:nvSpPr>
        <dsp:cNvPr id="0" name=""/>
        <dsp:cNvSpPr/>
      </dsp:nvSpPr>
      <dsp:spPr>
        <a:xfrm>
          <a:off x="0" y="1136649"/>
          <a:ext cx="8128000" cy="1136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90000"/>
            </a:lnSpc>
            <a:spcBef>
              <a:spcPct val="0"/>
            </a:spcBef>
            <a:spcAft>
              <a:spcPct val="35000"/>
            </a:spcAft>
          </a:pPr>
          <a:r>
            <a:rPr kumimoji="1" lang="ja-JP" altLang="en-US" sz="3200" kern="1200" dirty="0" smtClean="0">
              <a:hlinkClick xmlns:r="http://schemas.openxmlformats.org/officeDocument/2006/relationships" r:id="" action="ppaction://hlinksldjump"/>
            </a:rPr>
            <a:t>データでみる明治大学</a:t>
          </a:r>
          <a:endParaRPr kumimoji="1" lang="ja-JP" altLang="en-US" sz="3200" kern="1200" dirty="0"/>
        </a:p>
      </dsp:txBody>
      <dsp:txXfrm>
        <a:off x="0" y="1136649"/>
        <a:ext cx="8128000" cy="1136649"/>
      </dsp:txXfrm>
    </dsp:sp>
    <dsp:sp modelId="{7CF7F44B-6C24-4075-8077-6B6ED1F548D7}">
      <dsp:nvSpPr>
        <dsp:cNvPr id="0" name=""/>
        <dsp:cNvSpPr/>
      </dsp:nvSpPr>
      <dsp:spPr>
        <a:xfrm>
          <a:off x="0" y="2273299"/>
          <a:ext cx="81280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6BA673-C957-4232-879C-F7A3711BB178}">
      <dsp:nvSpPr>
        <dsp:cNvPr id="0" name=""/>
        <dsp:cNvSpPr/>
      </dsp:nvSpPr>
      <dsp:spPr>
        <a:xfrm>
          <a:off x="0" y="2273299"/>
          <a:ext cx="8128000" cy="1136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90000"/>
            </a:lnSpc>
            <a:spcBef>
              <a:spcPct val="0"/>
            </a:spcBef>
            <a:spcAft>
              <a:spcPct val="35000"/>
            </a:spcAft>
          </a:pPr>
          <a:r>
            <a:rPr kumimoji="1" lang="ja-JP" altLang="en-US" sz="3200" kern="1200" dirty="0" smtClean="0">
              <a:hlinkClick xmlns:r="http://schemas.openxmlformats.org/officeDocument/2006/relationships" r:id="" action="ppaction://hlinksldjump"/>
            </a:rPr>
            <a:t>明治大学生田キャンパスへのアクセス</a:t>
          </a:r>
          <a:endParaRPr kumimoji="1" lang="ja-JP" altLang="en-US" sz="3200" kern="1200" dirty="0"/>
        </a:p>
      </dsp:txBody>
      <dsp:txXfrm>
        <a:off x="0" y="2273299"/>
        <a:ext cx="8128000" cy="1136649"/>
      </dsp:txXfrm>
    </dsp:sp>
    <dsp:sp modelId="{C04847C4-F46E-4A26-9109-9A4B69A6A4BB}">
      <dsp:nvSpPr>
        <dsp:cNvPr id="0" name=""/>
        <dsp:cNvSpPr/>
      </dsp:nvSpPr>
      <dsp:spPr>
        <a:xfrm>
          <a:off x="0" y="3409949"/>
          <a:ext cx="81280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5B824D-E01E-4390-98C2-9F22AE15AD0B}">
      <dsp:nvSpPr>
        <dsp:cNvPr id="0" name=""/>
        <dsp:cNvSpPr/>
      </dsp:nvSpPr>
      <dsp:spPr>
        <a:xfrm>
          <a:off x="0" y="3409949"/>
          <a:ext cx="8128000" cy="1136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90000"/>
            </a:lnSpc>
            <a:spcBef>
              <a:spcPct val="0"/>
            </a:spcBef>
            <a:spcAft>
              <a:spcPct val="35000"/>
            </a:spcAft>
          </a:pPr>
          <a:r>
            <a:rPr kumimoji="1" lang="ja-JP" altLang="en-US" sz="3200" kern="1200" dirty="0" smtClean="0">
              <a:hlinkClick xmlns:r="http://schemas.openxmlformats.org/officeDocument/2006/relationships" r:id="" action="ppaction://hlinksldjump"/>
            </a:rPr>
            <a:t>明治大学公式キャラクター「めいじろう」</a:t>
          </a:r>
          <a:endParaRPr kumimoji="1" lang="ja-JP" altLang="en-US" sz="3200" kern="1200" dirty="0"/>
        </a:p>
      </dsp:txBody>
      <dsp:txXfrm>
        <a:off x="0" y="3409949"/>
        <a:ext cx="8128000" cy="113664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D10F09-F9CD-4BB1-875D-D77D0C76761C}" type="datetimeFigureOut">
              <a:rPr kumimoji="1" lang="ja-JP" altLang="en-US" smtClean="0"/>
              <a:t>2020/4/25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BCD395-335B-4804-8AC8-638F91D1E1BD}" type="slidenum">
              <a:rPr kumimoji="1" lang="ja-JP" altLang="en-US" smtClean="0"/>
              <a:t>‹#›</a:t>
            </a:fld>
            <a:endParaRPr kumimoji="1" lang="ja-JP" altLang="en-US"/>
          </a:p>
        </p:txBody>
      </p:sp>
    </p:spTree>
    <p:extLst>
      <p:ext uri="{BB962C8B-B14F-4D97-AF65-F5344CB8AC3E}">
        <p14:creationId xmlns:p14="http://schemas.microsoft.com/office/powerpoint/2010/main" val="41507843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4DBCD395-335B-4804-8AC8-638F91D1E1BD}" type="slidenum">
              <a:rPr kumimoji="1" lang="ja-JP" altLang="en-US" smtClean="0"/>
              <a:t>2</a:t>
            </a:fld>
            <a:endParaRPr kumimoji="1" lang="ja-JP" altLang="en-US"/>
          </a:p>
        </p:txBody>
      </p:sp>
    </p:spTree>
    <p:extLst>
      <p:ext uri="{BB962C8B-B14F-4D97-AF65-F5344CB8AC3E}">
        <p14:creationId xmlns:p14="http://schemas.microsoft.com/office/powerpoint/2010/main" val="1280391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ja-JP" altLang="en-US" smtClean="0"/>
              <a:t>マスター タイトルの書式設定</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smtClean="0"/>
              <a:t>マスター サブタイトルの書式設定</a:t>
            </a:r>
            <a:endParaRPr lang="en-US" dirty="0"/>
          </a:p>
        </p:txBody>
      </p:sp>
      <p:sp>
        <p:nvSpPr>
          <p:cNvPr id="4" name="Date Placeholder 3"/>
          <p:cNvSpPr>
            <a:spLocks noGrp="1"/>
          </p:cNvSpPr>
          <p:nvPr>
            <p:ph type="dt" sz="half" idx="10"/>
          </p:nvPr>
        </p:nvSpPr>
        <p:spPr/>
        <p:txBody>
          <a:bodyPr/>
          <a:lstStyle/>
          <a:p>
            <a:fld id="{128180F1-693B-4083-A6CB-8AEC38503BE3}"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1097131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ja-JP" altLang="en-US" smtClean="0"/>
              <a:t>マスター タイトルの書式設定</a:t>
            </a:r>
            <a:endParaRPr lang="en-US" dirty="0"/>
          </a:p>
        </p:txBody>
      </p:sp>
      <p:sp>
        <p:nvSpPr>
          <p:cNvPr id="3" name="Content Placeholder 2"/>
          <p:cNvSpPr>
            <a:spLocks noGrp="1"/>
          </p:cNvSpPr>
          <p:nvPr>
            <p:ph idx="1"/>
          </p:nvPr>
        </p:nvSpPr>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FFAA549D-868F-41BC-87E9-1F1B4CF9E5EF}"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32213416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EEC270B7-CB1F-4EC8-B108-261769322B07}"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659340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Date Placeholder 4"/>
          <p:cNvSpPr>
            <a:spLocks noGrp="1"/>
          </p:cNvSpPr>
          <p:nvPr>
            <p:ph type="dt" sz="half" idx="10"/>
          </p:nvPr>
        </p:nvSpPr>
        <p:spPr/>
        <p:txBody>
          <a:bodyPr/>
          <a:lstStyle/>
          <a:p>
            <a:fld id="{CA8E97CD-3DC3-4D60-B096-D14E9B5DDD5C}" type="datetime1">
              <a:rPr kumimoji="1" lang="ja-JP" altLang="en-US" smtClean="0"/>
              <a:t>2020/4/25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10394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7" name="Date Placeholder 6"/>
          <p:cNvSpPr>
            <a:spLocks noGrp="1"/>
          </p:cNvSpPr>
          <p:nvPr>
            <p:ph type="dt" sz="half" idx="10"/>
          </p:nvPr>
        </p:nvSpPr>
        <p:spPr/>
        <p:txBody>
          <a:bodyPr/>
          <a:lstStyle/>
          <a:p>
            <a:fld id="{C741D85B-16CA-4D87-A92B-A99D83B53E1D}" type="datetime1">
              <a:rPr kumimoji="1" lang="ja-JP" altLang="en-US" smtClean="0"/>
              <a:t>2020/4/25</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1238199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ja-JP" altLang="en-US" smtClean="0"/>
              <a:t>マスター タイトルの書式設定</a:t>
            </a:r>
            <a:endParaRPr lang="en-US" dirty="0"/>
          </a:p>
        </p:txBody>
      </p:sp>
      <p:sp>
        <p:nvSpPr>
          <p:cNvPr id="3" name="Date Placeholder 2"/>
          <p:cNvSpPr>
            <a:spLocks noGrp="1"/>
          </p:cNvSpPr>
          <p:nvPr>
            <p:ph type="dt" sz="half" idx="10"/>
          </p:nvPr>
        </p:nvSpPr>
        <p:spPr/>
        <p:txBody>
          <a:bodyPr/>
          <a:lstStyle/>
          <a:p>
            <a:fld id="{2D2565C6-BC1A-4687-8602-55690A2C2CA5}" type="datetime1">
              <a:rPr kumimoji="1" lang="ja-JP" altLang="en-US" smtClean="0"/>
              <a:t>2020/4/25</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2846911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B29C45-31D5-4656-BBAD-50618727BFC6}" type="datetime1">
              <a:rPr kumimoji="1" lang="ja-JP" altLang="en-US" smtClean="0"/>
              <a:t>2020/4/25</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2281082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ja-JP" altLang="en-US" smtClean="0"/>
              <a:t>マスター タイトルの書式設定</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2F9E5BB3-8749-46EC-8E09-ACF66B71ACE0}" type="datetime1">
              <a:rPr kumimoji="1" lang="ja-JP" altLang="en-US" smtClean="0"/>
              <a:t>2020/4/25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3830084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ja-JP" altLang="en-US" smtClean="0"/>
              <a:t>マスター タイトルの書式設定</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smtClean="0"/>
              <a:t>図を追加</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29A1EBFA-1BFB-4C7D-9271-D9C89FB88CE0}" type="datetime1">
              <a:rPr kumimoji="1" lang="ja-JP" altLang="en-US" smtClean="0"/>
              <a:t>2020/4/25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2323884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3771960B-90DD-4B11-BE02-295D96BB61C5}"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4215742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smtClean="0"/>
              <a:t>マスター タイトルの書式設定</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smtClean="0"/>
              <a:t>マスター テキストの書式設定</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C8BE06C8-7490-402F-BC9B-B68FC5CE224B}"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634695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BE020953-7E57-4683-9DD0-C6D932CEA436}"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3067989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smtClean="0"/>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smtClean="0"/>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3FABA774-DDA0-42CB-8ADE-70DA500BC5AB}"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237337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ja-JP" altLang="en-US" smtClean="0"/>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smtClean="0"/>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1D357A4D-9DCB-4D13-9BBE-065A2AF53674}"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37778626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B5820903-052A-4F3B-81D2-8FBB782FC000}"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30330758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C725354F-91BE-4F51-B6DB-0DB8A98AB2FB}"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1366055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CD5E81D-E481-44E1-9259-A585117072EA}" type="datetime1">
              <a:rPr kumimoji="1" lang="ja-JP" altLang="en-US" smtClean="0"/>
              <a:t>2020/4/25</a:t>
            </a:fld>
            <a:endParaRPr kumimoji="1" lang="ja-JP" alt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40575724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kumimoji="1"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kumimoji="1"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kumimoji="1"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smtClean="0"/>
              <a:t>明治大学について</a:t>
            </a:r>
            <a:endParaRPr kumimoji="1" lang="ja-JP" altLang="en-US" dirty="0"/>
          </a:p>
        </p:txBody>
      </p:sp>
      <p:sp>
        <p:nvSpPr>
          <p:cNvPr id="3" name="サブタイトル 2"/>
          <p:cNvSpPr>
            <a:spLocks noGrp="1"/>
          </p:cNvSpPr>
          <p:nvPr>
            <p:ph type="subTitle" idx="1"/>
          </p:nvPr>
        </p:nvSpPr>
        <p:spPr/>
        <p:txBody>
          <a:bodyPr/>
          <a:lstStyle/>
          <a:p>
            <a:r>
              <a:rPr lang="ja-JP" altLang="en-US" dirty="0"/>
              <a:t>明治太郎</a:t>
            </a:r>
            <a:endParaRPr kumimoji="1" lang="ja-JP" altLang="en-US" dirty="0"/>
          </a:p>
        </p:txBody>
      </p:sp>
    </p:spTree>
    <p:extLst>
      <p:ext uri="{BB962C8B-B14F-4D97-AF65-F5344CB8AC3E}">
        <p14:creationId xmlns:p14="http://schemas.microsoft.com/office/powerpoint/2010/main" val="177199084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smtClean="0"/>
              <a:t>目次</a:t>
            </a:r>
            <a:endParaRPr kumimoji="1" lang="ja-JP" altLang="en-US" dirty="0"/>
          </a:p>
        </p:txBody>
      </p:sp>
      <p:graphicFrame>
        <p:nvGraphicFramePr>
          <p:cNvPr id="5" name="図表 4"/>
          <p:cNvGraphicFramePr/>
          <p:nvPr>
            <p:extLst>
              <p:ext uri="{D42A27DB-BD31-4B8C-83A1-F6EECF244321}">
                <p14:modId xmlns:p14="http://schemas.microsoft.com/office/powerpoint/2010/main" val="3312275751"/>
              </p:ext>
            </p:extLst>
          </p:nvPr>
        </p:nvGraphicFramePr>
        <p:xfrm>
          <a:off x="911668" y="1397000"/>
          <a:ext cx="8128000" cy="4546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スライド番号プレースホルダー 5"/>
          <p:cNvSpPr>
            <a:spLocks noGrp="1"/>
          </p:cNvSpPr>
          <p:nvPr>
            <p:ph type="sldNum" sz="quarter" idx="12"/>
          </p:nvPr>
        </p:nvSpPr>
        <p:spPr/>
        <p:txBody>
          <a:bodyPr/>
          <a:lstStyle/>
          <a:p>
            <a:fld id="{6651ECFF-2854-424D-8B49-D94BBB1FBBE7}" type="slidenum">
              <a:rPr kumimoji="1" lang="ja-JP" altLang="en-US" smtClean="0"/>
              <a:t>2</a:t>
            </a:fld>
            <a:endParaRPr kumimoji="1" lang="ja-JP" altLang="en-US"/>
          </a:p>
        </p:txBody>
      </p:sp>
    </p:spTree>
    <p:extLst>
      <p:ext uri="{BB962C8B-B14F-4D97-AF65-F5344CB8AC3E}">
        <p14:creationId xmlns:p14="http://schemas.microsoft.com/office/powerpoint/2010/main" val="32552296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smtClean="0"/>
              <a:t>明治大学の理念</a:t>
            </a:r>
            <a:endParaRPr kumimoji="1" lang="ja-JP" altLang="en-US" dirty="0"/>
          </a:p>
        </p:txBody>
      </p:sp>
      <p:sp>
        <p:nvSpPr>
          <p:cNvPr id="5" name="コンテンツ プレースホルダー 4"/>
          <p:cNvSpPr>
            <a:spLocks noGrp="1"/>
          </p:cNvSpPr>
          <p:nvPr>
            <p:ph idx="1"/>
          </p:nvPr>
        </p:nvSpPr>
        <p:spPr>
          <a:xfrm>
            <a:off x="677334" y="1384300"/>
            <a:ext cx="8596668" cy="5245099"/>
          </a:xfrm>
        </p:spPr>
        <p:txBody>
          <a:bodyPr>
            <a:normAutofit/>
          </a:bodyPr>
          <a:lstStyle/>
          <a:p>
            <a:r>
              <a:rPr lang="ja-JP" altLang="en-US" sz="3100" dirty="0" smtClean="0"/>
              <a:t>建学</a:t>
            </a:r>
            <a:r>
              <a:rPr lang="ja-JP" altLang="en-US" sz="3100" dirty="0"/>
              <a:t>の精神</a:t>
            </a:r>
          </a:p>
          <a:p>
            <a:pPr marL="0" indent="0">
              <a:buNone/>
            </a:pPr>
            <a:r>
              <a:rPr lang="ja-JP" altLang="en-US" dirty="0"/>
              <a:t>　明治大学は、封建的な社会から近代社会へと変容する時代に、個人の権利を確立し、自由な社会を実現するために、フランス法学を教授する明治法律学校として、</a:t>
            </a:r>
            <a:r>
              <a:rPr lang="en-US" altLang="ja-JP" dirty="0"/>
              <a:t>1881</a:t>
            </a:r>
            <a:r>
              <a:rPr lang="ja-JP" altLang="en-US" dirty="0"/>
              <a:t>（明治</a:t>
            </a:r>
            <a:r>
              <a:rPr lang="en-US" altLang="ja-JP" dirty="0"/>
              <a:t>14</a:t>
            </a:r>
            <a:r>
              <a:rPr lang="ja-JP" altLang="en-US" dirty="0"/>
              <a:t>）年に創立されました。学部の増設にともなって総合大学となった現在でも、創立時からの伝統によって確立された建学の精神「権利自由、独立自治」に基づき、自由と自治の精神を養うことを明治大学の理念としています</a:t>
            </a:r>
            <a:r>
              <a:rPr lang="ja-JP" altLang="en-US" dirty="0" smtClean="0"/>
              <a:t>。</a:t>
            </a:r>
            <a:endParaRPr lang="ja-JP" altLang="en-US" dirty="0"/>
          </a:p>
          <a:p>
            <a:pPr marL="0" indent="0">
              <a:buNone/>
            </a:pPr>
            <a:r>
              <a:rPr lang="ja-JP" altLang="en-US" dirty="0" smtClean="0"/>
              <a:t>　「</a:t>
            </a:r>
            <a:r>
              <a:rPr lang="ja-JP" altLang="en-US" dirty="0"/>
              <a:t>権利自由、独立自治」は、個人の権利や自由を認め、学問の独立を基礎として自律の精神を養うという理念を広く普及させることを意味しています。「個」の確立を通じて近代化を図るべきであるとの視点のもと、近代市民の育成を目指し、創立以来有為な人材を数多く輩出してきました。「個」の確立を基礎とした教育方針は、「個を強くする大学」という理念へと継承されています</a:t>
            </a:r>
            <a:r>
              <a:rPr lang="ja-JP" altLang="en-US" dirty="0" smtClean="0"/>
              <a:t>。</a:t>
            </a:r>
            <a:endParaRPr lang="ja-JP" altLang="en-US" dirty="0"/>
          </a:p>
        </p:txBody>
      </p:sp>
      <p:sp>
        <p:nvSpPr>
          <p:cNvPr id="3" name="スライド番号プレースホルダー 2"/>
          <p:cNvSpPr>
            <a:spLocks noGrp="1"/>
          </p:cNvSpPr>
          <p:nvPr>
            <p:ph type="sldNum" sz="quarter" idx="12"/>
          </p:nvPr>
        </p:nvSpPr>
        <p:spPr/>
        <p:txBody>
          <a:bodyPr/>
          <a:lstStyle/>
          <a:p>
            <a:fld id="{6651ECFF-2854-424D-8B49-D94BBB1FBBE7}" type="slidenum">
              <a:rPr kumimoji="1" lang="ja-JP" altLang="en-US" smtClean="0"/>
              <a:t>3</a:t>
            </a:fld>
            <a:endParaRPr kumimoji="1" lang="ja-JP" altLang="en-US"/>
          </a:p>
        </p:txBody>
      </p:sp>
      <p:sp>
        <p:nvSpPr>
          <p:cNvPr id="2" name="正方形/長方形 1"/>
          <p:cNvSpPr/>
          <p:nvPr/>
        </p:nvSpPr>
        <p:spPr>
          <a:xfrm>
            <a:off x="930259" y="5577593"/>
            <a:ext cx="8002073" cy="646331"/>
          </a:xfrm>
          <a:prstGeom prst="rect">
            <a:avLst/>
          </a:prstGeom>
        </p:spPr>
        <p:txBody>
          <a:bodyPr wrap="square">
            <a:spAutoFit/>
          </a:bodyPr>
          <a:lstStyle/>
          <a:p>
            <a:r>
              <a:rPr lang="en-US" altLang="ja-JP" dirty="0" smtClean="0"/>
              <a:t>(</a:t>
            </a:r>
            <a:r>
              <a:rPr lang="ja-JP" altLang="en-US" dirty="0" smtClean="0"/>
              <a:t>出典</a:t>
            </a:r>
            <a:r>
              <a:rPr lang="en-US" altLang="ja-JP" dirty="0" smtClean="0"/>
              <a:t>) </a:t>
            </a:r>
            <a:r>
              <a:rPr lang="ja-JP" altLang="en-US" dirty="0" smtClean="0"/>
              <a:t>建学</a:t>
            </a:r>
            <a:r>
              <a:rPr lang="ja-JP" altLang="en-US" dirty="0"/>
              <a:t>の精神と使命 | 明治</a:t>
            </a:r>
            <a:r>
              <a:rPr lang="ja-JP" altLang="en-US" dirty="0" smtClean="0"/>
              <a:t>大学 </a:t>
            </a:r>
            <a:endParaRPr lang="ja-JP" altLang="en-US" dirty="0"/>
          </a:p>
          <a:p>
            <a:r>
              <a:rPr lang="ja-JP" altLang="en-US" dirty="0"/>
              <a:t>https://www.meiji.ac.jp/koho/information/mission/mission.html</a:t>
            </a:r>
          </a:p>
        </p:txBody>
      </p:sp>
    </p:spTree>
    <p:extLst>
      <p:ext uri="{BB962C8B-B14F-4D97-AF65-F5344CB8AC3E}">
        <p14:creationId xmlns:p14="http://schemas.microsoft.com/office/powerpoint/2010/main" val="34437880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データでみる明治大学</a:t>
            </a:r>
            <a:endParaRPr kumimoji="1" lang="ja-JP" altLang="en-US" dirty="0"/>
          </a:p>
        </p:txBody>
      </p:sp>
      <p:sp>
        <p:nvSpPr>
          <p:cNvPr id="4" name="スライド番号プレースホルダー 3"/>
          <p:cNvSpPr>
            <a:spLocks noGrp="1"/>
          </p:cNvSpPr>
          <p:nvPr>
            <p:ph type="sldNum" sz="quarter" idx="12"/>
          </p:nvPr>
        </p:nvSpPr>
        <p:spPr/>
        <p:txBody>
          <a:bodyPr/>
          <a:lstStyle/>
          <a:p>
            <a:fld id="{6651ECFF-2854-424D-8B49-D94BBB1FBBE7}" type="slidenum">
              <a:rPr kumimoji="1" lang="ja-JP" altLang="en-US" smtClean="0"/>
              <a:t>4</a:t>
            </a:fld>
            <a:endParaRPr kumimoji="1" lang="ja-JP" altLang="en-US"/>
          </a:p>
        </p:txBody>
      </p:sp>
      <p:graphicFrame>
        <p:nvGraphicFramePr>
          <p:cNvPr id="6" name="グラフ 5">
            <a:extLst>
              <a:ext uri="{FF2B5EF4-FFF2-40B4-BE49-F238E27FC236}">
                <a16:creationId xmlns:lc="http://schemas.openxmlformats.org/drawingml/2006/lockedCanvas" xmlns:a16="http://schemas.microsoft.com/office/drawing/2014/main" xmlns:xdr="http://schemas.openxmlformats.org/drawingml/2006/spreadsheetDrawing" xmlns="" id="{B7CA3CD0-E26E-4604-98D7-0A81CD323576}"/>
              </a:ext>
            </a:extLst>
          </p:cNvPr>
          <p:cNvGraphicFramePr>
            <a:graphicFrameLocks/>
          </p:cNvGraphicFramePr>
          <p:nvPr>
            <p:extLst>
              <p:ext uri="{D42A27DB-BD31-4B8C-83A1-F6EECF244321}">
                <p14:modId xmlns:p14="http://schemas.microsoft.com/office/powerpoint/2010/main" val="2434798393"/>
              </p:ext>
            </p:extLst>
          </p:nvPr>
        </p:nvGraphicFramePr>
        <p:xfrm>
          <a:off x="430212" y="1720850"/>
          <a:ext cx="4397375" cy="28575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グラフ 6">
            <a:extLst>
              <a:ext uri="{FF2B5EF4-FFF2-40B4-BE49-F238E27FC236}">
                <a16:creationId xmlns:lc="http://schemas.openxmlformats.org/drawingml/2006/lockedCanvas" xmlns:a16="http://schemas.microsoft.com/office/drawing/2014/main" xmlns:xdr="http://schemas.openxmlformats.org/drawingml/2006/spreadsheetDrawing" xmlns="" id="{8FB48A02-A729-4635-A3C9-51E90B52C51B}"/>
              </a:ext>
            </a:extLst>
          </p:cNvPr>
          <p:cNvGraphicFramePr>
            <a:graphicFrameLocks/>
          </p:cNvGraphicFramePr>
          <p:nvPr>
            <p:extLst>
              <p:ext uri="{D42A27DB-BD31-4B8C-83A1-F6EECF244321}">
                <p14:modId xmlns:p14="http://schemas.microsoft.com/office/powerpoint/2010/main" val="3610533586"/>
              </p:ext>
            </p:extLst>
          </p:nvPr>
        </p:nvGraphicFramePr>
        <p:xfrm>
          <a:off x="4689302" y="1720850"/>
          <a:ext cx="4584700" cy="2857500"/>
        </p:xfrm>
        <a:graphic>
          <a:graphicData uri="http://schemas.openxmlformats.org/drawingml/2006/chart">
            <c:chart xmlns:c="http://schemas.openxmlformats.org/drawingml/2006/chart" xmlns:r="http://schemas.openxmlformats.org/officeDocument/2006/relationships" r:id="rId3"/>
          </a:graphicData>
        </a:graphic>
      </p:graphicFrame>
      <p:sp>
        <p:nvSpPr>
          <p:cNvPr id="9" name="正方形/長方形 8"/>
          <p:cNvSpPr/>
          <p:nvPr/>
        </p:nvSpPr>
        <p:spPr>
          <a:xfrm>
            <a:off x="930259" y="5577593"/>
            <a:ext cx="8002073" cy="646331"/>
          </a:xfrm>
          <a:prstGeom prst="rect">
            <a:avLst/>
          </a:prstGeom>
        </p:spPr>
        <p:txBody>
          <a:bodyPr wrap="square">
            <a:spAutoFit/>
          </a:bodyPr>
          <a:lstStyle/>
          <a:p>
            <a:r>
              <a:rPr lang="en-US" altLang="ja-JP" dirty="0"/>
              <a:t>(</a:t>
            </a:r>
            <a:r>
              <a:rPr lang="ja-JP" altLang="en-US" dirty="0"/>
              <a:t>出典</a:t>
            </a:r>
            <a:r>
              <a:rPr lang="en-US" altLang="ja-JP" dirty="0" smtClean="0"/>
              <a:t>)</a:t>
            </a:r>
            <a:r>
              <a:rPr lang="ja-JP" altLang="en-US" dirty="0"/>
              <a:t>データで見る明治大学 </a:t>
            </a:r>
            <a:r>
              <a:rPr lang="en-US" altLang="ja-JP" dirty="0"/>
              <a:t>Data from Meiji </a:t>
            </a:r>
            <a:r>
              <a:rPr lang="en-US" altLang="ja-JP" dirty="0" smtClean="0"/>
              <a:t>University</a:t>
            </a:r>
          </a:p>
          <a:p>
            <a:r>
              <a:rPr lang="en-US" altLang="ja-JP" dirty="0" smtClean="0"/>
              <a:t>https</a:t>
            </a:r>
            <a:r>
              <a:rPr lang="en-US" altLang="ja-JP" dirty="0"/>
              <a:t>://www.meiji.ac.jp/koho/about/hyouka/data/</a:t>
            </a:r>
          </a:p>
        </p:txBody>
      </p:sp>
    </p:spTree>
    <p:extLst>
      <p:ext uri="{BB962C8B-B14F-4D97-AF65-F5344CB8AC3E}">
        <p14:creationId xmlns:p14="http://schemas.microsoft.com/office/powerpoint/2010/main" val="40135089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明治大学生田キャンパスへのアクセス</a:t>
            </a:r>
            <a:endParaRPr kumimoji="1" lang="ja-JP" altLang="en-US" dirty="0"/>
          </a:p>
        </p:txBody>
      </p:sp>
      <p:sp>
        <p:nvSpPr>
          <p:cNvPr id="3" name="スライド番号プレースホルダー 2"/>
          <p:cNvSpPr>
            <a:spLocks noGrp="1"/>
          </p:cNvSpPr>
          <p:nvPr>
            <p:ph type="sldNum" sz="quarter" idx="12"/>
          </p:nvPr>
        </p:nvSpPr>
        <p:spPr/>
        <p:txBody>
          <a:bodyPr/>
          <a:lstStyle/>
          <a:p>
            <a:fld id="{6651ECFF-2854-424D-8B49-D94BBB1FBBE7}" type="slidenum">
              <a:rPr kumimoji="1" lang="ja-JP" altLang="en-US" smtClean="0"/>
              <a:t>5</a:t>
            </a:fld>
            <a:endParaRPr kumimoji="1" lang="ja-JP" altLang="en-US"/>
          </a:p>
        </p:txBody>
      </p:sp>
      <p:cxnSp>
        <p:nvCxnSpPr>
          <p:cNvPr id="1000" name="bentConnector2-s1"/>
          <p:cNvCxnSpPr/>
          <p:nvPr/>
        </p:nvCxnSpPr>
        <p:spPr>
          <a:xfrm>
            <a:off x="10624457" y="3981061"/>
            <a:ext cx="1244082" cy="895739"/>
          </a:xfrm>
          <a:prstGeom prst="bentConnector2">
            <a:avLst/>
          </a:prstGeom>
          <a:ln w="12700">
            <a:solidFill>
              <a:srgbClr val="1D4ED8"/>
            </a:solidFill>
            <a:prstDash val="solid"/>
          </a:ln>
        </p:spPr>
        <p:style>
          <a:lnRef idx="1">
            <a:schemeClr val="accent1"/>
          </a:lnRef>
          <a:fillRef idx="0">
            <a:schemeClr val="accent1"/>
          </a:fillRef>
          <a:effectRef idx="0">
            <a:schemeClr val="accent1"/>
          </a:effectRef>
          <a:fontRef idx="minor">
            <a:schemeClr val="tx1"/>
          </a:fontRef>
        </p:style>
      </p:cxnSp>
      <p:cxnSp>
        <p:nvCxnSpPr>
          <p:cNvPr id="1001" name="bentConnector3-s1"/>
          <p:cNvCxnSpPr/>
          <p:nvPr/>
        </p:nvCxnSpPr>
        <p:spPr>
          <a:xfrm>
            <a:off x="472751" y="5424196"/>
            <a:ext cx="1244082" cy="895739"/>
          </a:xfrm>
          <a:prstGeom prst="bentConnector3">
            <a:avLst/>
          </a:prstGeom>
          <a:ln w="12700">
            <a:solidFill>
              <a:srgbClr val="1D4ED8"/>
            </a:solidFill>
            <a:prstDash val="solid"/>
          </a:ln>
        </p:spPr>
        <p:style>
          <a:lnRef idx="1">
            <a:schemeClr val="accent1"/>
          </a:lnRef>
          <a:fillRef idx="0">
            <a:schemeClr val="accent1"/>
          </a:fillRef>
          <a:effectRef idx="0">
            <a:schemeClr val="accent1"/>
          </a:effectRef>
          <a:fontRef idx="minor">
            <a:schemeClr val="tx1"/>
          </a:fontRef>
        </p:style>
      </p:cxnSp>
      <p:cxnSp>
        <p:nvCxnSpPr>
          <p:cNvPr id="1002" name="bentConnector4-s1"/>
          <p:cNvCxnSpPr/>
          <p:nvPr/>
        </p:nvCxnSpPr>
        <p:spPr>
          <a:xfrm>
            <a:off x="2164702" y="5424196"/>
            <a:ext cx="1244082" cy="895739"/>
          </a:xfrm>
          <a:prstGeom prst="bentConnector4">
            <a:avLst/>
          </a:prstGeom>
          <a:ln w="12700">
            <a:solidFill>
              <a:srgbClr val="1D4ED8"/>
            </a:solidFill>
            <a:prstDash val="solid"/>
          </a:ln>
        </p:spPr>
        <p:style>
          <a:lnRef idx="1">
            <a:schemeClr val="accent1"/>
          </a:lnRef>
          <a:fillRef idx="0">
            <a:schemeClr val="accent1"/>
          </a:fillRef>
          <a:effectRef idx="0">
            <a:schemeClr val="accent1"/>
          </a:effectRef>
          <a:fontRef idx="minor">
            <a:schemeClr val="tx1"/>
          </a:fontRef>
        </p:style>
      </p:cxnSp>
      <p:cxnSp>
        <p:nvCxnSpPr>
          <p:cNvPr id="1003" name="bentConnector5-s1"/>
          <p:cNvCxnSpPr/>
          <p:nvPr/>
        </p:nvCxnSpPr>
        <p:spPr>
          <a:xfrm>
            <a:off x="3856653" y="5424196"/>
            <a:ext cx="1244082" cy="895739"/>
          </a:xfrm>
          <a:prstGeom prst="bentConnector5">
            <a:avLst/>
          </a:prstGeom>
          <a:ln w="12700">
            <a:solidFill>
              <a:srgbClr val="1D4ED8"/>
            </a:solidFill>
            <a:prstDash val="solid"/>
          </a:ln>
        </p:spPr>
        <p:style>
          <a:lnRef idx="1">
            <a:schemeClr val="accent1"/>
          </a:lnRef>
          <a:fillRef idx="0">
            <a:schemeClr val="accent1"/>
          </a:fillRef>
          <a:effectRef idx="0">
            <a:schemeClr val="accent1"/>
          </a:effectRef>
          <a:fontRef idx="minor">
            <a:schemeClr val="tx1"/>
          </a:fontRef>
        </p:style>
      </p:cxnSp>
      <p:cxnSp>
        <p:nvCxnSpPr>
          <p:cNvPr id="1004" name="curvedConnector2-s2"/>
          <p:cNvCxnSpPr/>
          <p:nvPr/>
        </p:nvCxnSpPr>
        <p:spPr>
          <a:xfrm>
            <a:off x="10624457" y="3981061"/>
            <a:ext cx="1244082" cy="895739"/>
          </a:xfrm>
          <a:prstGeom prst="curvedConnector2">
            <a:avLst/>
          </a:prstGeom>
          <a:ln w="12700">
            <a:solidFill>
              <a:srgbClr val="1D4ED8"/>
            </a:solidFill>
            <a:prstDash val="solid"/>
          </a:ln>
        </p:spPr>
        <p:style>
          <a:lnRef idx="1">
            <a:schemeClr val="accent1"/>
          </a:lnRef>
          <a:fillRef idx="0">
            <a:schemeClr val="accent1"/>
          </a:fillRef>
          <a:effectRef idx="0">
            <a:schemeClr val="accent1"/>
          </a:effectRef>
          <a:fontRef idx="minor">
            <a:schemeClr val="tx1"/>
          </a:fontRef>
        </p:style>
      </p:cxnSp>
      <p:cxnSp>
        <p:nvCxnSpPr>
          <p:cNvPr id="1005" name="curvedConnector3-s2"/>
          <p:cNvCxnSpPr/>
          <p:nvPr/>
        </p:nvCxnSpPr>
        <p:spPr>
          <a:xfrm>
            <a:off x="472751" y="5424196"/>
            <a:ext cx="1244082" cy="895739"/>
          </a:xfrm>
          <a:prstGeom prst="curvedConnector3">
            <a:avLst/>
          </a:prstGeom>
          <a:ln w="12700">
            <a:solidFill>
              <a:srgbClr val="1D4ED8"/>
            </a:solidFill>
            <a:prstDash val="solid"/>
          </a:ln>
        </p:spPr>
        <p:style>
          <a:lnRef idx="1">
            <a:schemeClr val="accent1"/>
          </a:lnRef>
          <a:fillRef idx="0">
            <a:schemeClr val="accent1"/>
          </a:fillRef>
          <a:effectRef idx="0">
            <a:schemeClr val="accent1"/>
          </a:effectRef>
          <a:fontRef idx="minor">
            <a:schemeClr val="tx1"/>
          </a:fontRef>
        </p:style>
      </p:cxnSp>
      <p:cxnSp>
        <p:nvCxnSpPr>
          <p:cNvPr id="1006" name="curvedConnector4-s2"/>
          <p:cNvCxnSpPr/>
          <p:nvPr/>
        </p:nvCxnSpPr>
        <p:spPr>
          <a:xfrm>
            <a:off x="2164702" y="5424196"/>
            <a:ext cx="1244082" cy="895739"/>
          </a:xfrm>
          <a:prstGeom prst="curvedConnector4">
            <a:avLst/>
          </a:prstGeom>
          <a:ln w="12700">
            <a:solidFill>
              <a:srgbClr val="1D4ED8"/>
            </a:solidFill>
            <a:prstDash val="solid"/>
          </a:ln>
        </p:spPr>
        <p:style>
          <a:lnRef idx="1">
            <a:schemeClr val="accent1"/>
          </a:lnRef>
          <a:fillRef idx="0">
            <a:schemeClr val="accent1"/>
          </a:fillRef>
          <a:effectRef idx="0">
            <a:schemeClr val="accent1"/>
          </a:effectRef>
          <a:fontRef idx="minor">
            <a:schemeClr val="tx1"/>
          </a:fontRef>
        </p:style>
      </p:cxnSp>
      <p:cxnSp>
        <p:nvCxnSpPr>
          <p:cNvPr id="1007" name="curvedConnector5-s2"/>
          <p:cNvCxnSpPr/>
          <p:nvPr/>
        </p:nvCxnSpPr>
        <p:spPr>
          <a:xfrm>
            <a:off x="3856653" y="5424196"/>
            <a:ext cx="1244082" cy="895739"/>
          </a:xfrm>
          <a:prstGeom prst="curvedConnector5">
            <a:avLst/>
          </a:prstGeom>
          <a:ln w="12700">
            <a:solidFill>
              <a:srgbClr val="1D4ED8"/>
            </a:solidFill>
            <a:prstDash val="solid"/>
          </a:ln>
        </p:spPr>
        <p:style>
          <a:lnRef idx="1">
            <a:schemeClr val="accent1"/>
          </a:lnRef>
          <a:fillRef idx="0">
            <a:schemeClr val="accent1"/>
          </a:fillRef>
          <a:effectRef idx="0">
            <a:schemeClr val="accent1"/>
          </a:effectRef>
          <a:fontRef idx="minor">
            <a:schemeClr val="tx1"/>
          </a:fontRef>
        </p:style>
      </p:cxnSp>
      <p:cxnSp>
        <p:nvCxnSpPr>
          <p:cNvPr id="1008" name="line-s5"/>
          <p:cNvCxnSpPr/>
          <p:nvPr/>
        </p:nvCxnSpPr>
        <p:spPr>
          <a:xfrm>
            <a:off x="8932506" y="2537927"/>
            <a:ext cx="1244082" cy="895739"/>
          </a:xfrm>
          <a:prstGeom prst="line">
            <a:avLst/>
          </a:prstGeom>
          <a:ln w="12700">
            <a:solidFill>
              <a:srgbClr val="1D4ED8"/>
            </a:solidFill>
            <a:prstDash val="solid"/>
          </a:ln>
        </p:spPr>
        <p:style>
          <a:lnRef idx="1">
            <a:schemeClr val="accent1"/>
          </a:lnRef>
          <a:fillRef idx="0">
            <a:schemeClr val="accent1"/>
          </a:fillRef>
          <a:effectRef idx="0">
            <a:schemeClr val="accent1"/>
          </a:effectRef>
          <a:fontRef idx="minor">
            <a:schemeClr val="tx1"/>
          </a:fontRef>
        </p:style>
      </p:cxnSp>
      <p:cxnSp>
        <p:nvCxnSpPr>
          <p:cNvPr id="1009" name="lineInv-s5"/>
          <p:cNvCxnSpPr/>
          <p:nvPr/>
        </p:nvCxnSpPr>
        <p:spPr>
          <a:xfrm>
            <a:off x="10624457" y="2537927"/>
            <a:ext cx="1244082" cy="895739"/>
          </a:xfrm>
          <a:prstGeom prst="lineInv">
            <a:avLst/>
          </a:prstGeom>
          <a:ln w="12700">
            <a:solidFill>
              <a:srgbClr val="1D4ED8"/>
            </a:solidFill>
            <a:prstDash val="solid"/>
          </a:ln>
        </p:spPr>
        <p:style>
          <a:lnRef idx="1">
            <a:schemeClr val="accent1"/>
          </a:lnRef>
          <a:fillRef idx="0">
            <a:schemeClr val="accent1"/>
          </a:fillRef>
          <a:effectRef idx="0">
            <a:schemeClr val="accent1"/>
          </a:effectRef>
          <a:fontRef idx="minor">
            <a:schemeClr val="tx1"/>
          </a:fontRef>
        </p:style>
      </p:cxnSp>
      <p:cxnSp>
        <p:nvCxnSpPr>
          <p:cNvPr id="1010" name="straightConnector1-s7"/>
          <p:cNvCxnSpPr/>
          <p:nvPr/>
        </p:nvCxnSpPr>
        <p:spPr>
          <a:xfrm>
            <a:off x="3856653" y="2537927"/>
            <a:ext cx="1244082" cy="895739"/>
          </a:xfrm>
          <a:prstGeom prst="straightConnector1">
            <a:avLst/>
          </a:prstGeom>
          <a:ln w="12700">
            <a:solidFill>
              <a:srgbClr val="1D4ED8"/>
            </a:solidFill>
            <a:prstDash val="solid"/>
          </a:ln>
        </p:spPr>
        <p:style>
          <a:lnRef idx="1">
            <a:schemeClr val="accent1"/>
          </a:lnRef>
          <a:fillRef idx="0">
            <a:schemeClr val="accent1"/>
          </a:fillRef>
          <a:effectRef idx="0">
            <a:schemeClr val="accent1"/>
          </a:effectRef>
          <a:fontRef idx="minor">
            <a:schemeClr val="tx1"/>
          </a:fontRef>
        </p:style>
      </p:cxnSp>
      <p:cxnSp>
        <p:nvCxnSpPr>
          <p:cNvPr id="1011" name="conn-bent3-s8"/>
          <p:cNvCxnSpPr/>
          <p:nvPr/>
        </p:nvCxnSpPr>
        <p:spPr>
          <a:xfrm>
            <a:off x="373224" y="2488163"/>
            <a:ext cx="2488163" cy="1244082"/>
          </a:xfrm>
          <a:prstGeom prst="bentConnector3">
            <a:avLst/>
          </a:prstGeom>
          <a:ln w="25400">
            <a:solidFill>
              <a:srgbClr val="7C3AED"/>
            </a:solidFill>
            <a:prstDash val="solid"/>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012" name="conn-curved3-s8"/>
          <p:cNvCxnSpPr/>
          <p:nvPr/>
        </p:nvCxnSpPr>
        <p:spPr>
          <a:xfrm flipV="1">
            <a:off x="3234612" y="2488163"/>
            <a:ext cx="2488163" cy="1244082"/>
          </a:xfrm>
          <a:prstGeom prst="curvedConnector3">
            <a:avLst/>
          </a:prstGeom>
          <a:ln w="25400">
            <a:solidFill>
              <a:srgbClr val="7C3AED"/>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1013" name="conn-straight1-s8"/>
          <p:cNvCxnSpPr/>
          <p:nvPr/>
        </p:nvCxnSpPr>
        <p:spPr>
          <a:xfrm>
            <a:off x="6096000" y="2488163"/>
            <a:ext cx="1990531" cy="1244082"/>
          </a:xfrm>
          <a:prstGeom prst="straightConnector1">
            <a:avLst/>
          </a:prstGeom>
          <a:ln w="12700">
            <a:solidFill>
              <a:srgbClr val="7C3AED"/>
            </a:solidFill>
            <a:prstDash val="solid"/>
            <a:headEnd type="diamond"/>
            <a:tailEnd type="arrow"/>
          </a:ln>
        </p:spPr>
        <p:style>
          <a:lnRef idx="1">
            <a:schemeClr val="accent1"/>
          </a:lnRef>
          <a:fillRef idx="0">
            <a:schemeClr val="accent1"/>
          </a:fillRef>
          <a:effectRef idx="0">
            <a:schemeClr val="accent1"/>
          </a:effectRef>
          <a:fontRef idx="minor">
            <a:schemeClr val="tx1"/>
          </a:fontRef>
        </p:style>
      </p:cxnSp>
      <p:cxnSp>
        <p:nvCxnSpPr>
          <p:cNvPr id="1014" name="edge-bogus-s9"/>
          <p:cNvCxnSpPr/>
          <p:nvPr/>
        </p:nvCxnSpPr>
        <p:spPr>
          <a:xfrm>
            <a:off x="9206204" y="2985796"/>
            <a:ext cx="2239347" cy="995265"/>
          </a:xfrm>
          <a:prstGeom prst="bentConnector3">
            <a:avLst/>
          </a:prstGeom>
          <a:ln w="25400">
            <a:solidFill>
              <a:srgbClr val="7C3AED"/>
            </a:solidFill>
            <a:prstDash val="solid"/>
            <a:headEnd type="oval"/>
            <a:tailEnd type="arrow"/>
          </a:ln>
        </p:spPr>
        <p:style>
          <a:lnRef idx="1">
            <a:schemeClr val="accent1"/>
          </a:lnRef>
          <a:fillRef idx="0">
            <a:schemeClr val="accent1"/>
          </a:fillRef>
          <a:effectRef idx="0">
            <a:schemeClr val="accent1"/>
          </a:effectRef>
          <a:fontRef idx="minor">
            <a:schemeClr val="tx1"/>
          </a:fontRef>
        </p:style>
      </p:cxnSp>
      <p:cxnSp>
        <p:nvCxnSpPr>
          <p:cNvPr id="1015" name="edge-line-bogus-s9"/>
          <p:cNvCxnSpPr/>
          <p:nvPr/>
        </p:nvCxnSpPr>
        <p:spPr>
          <a:xfrm>
            <a:off x="373224" y="4727510"/>
            <a:ext cx="3732245" cy="497633"/>
          </a:xfrm>
          <a:prstGeom prst="line">
            <a:avLst/>
          </a:prstGeom>
          <a:ln w="25400">
            <a:solidFill>
              <a:srgbClr val="7C3AED"/>
            </a:solidFill>
            <a:prstDash val="solid"/>
            <a:headEnd type="arrow"/>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4504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677334" y="609600"/>
            <a:ext cx="9127066" cy="1320800"/>
          </a:xfrm>
        </p:spPr>
        <p:txBody>
          <a:bodyPr/>
          <a:lstStyle/>
          <a:p>
            <a:r>
              <a:rPr kumimoji="1" lang="ja-JP" altLang="en-US" dirty="0" smtClean="0"/>
              <a:t>明治大学公式キャラクター「めいじろう」</a:t>
            </a:r>
            <a:endParaRPr kumimoji="1" lang="ja-JP" altLang="en-US" dirty="0"/>
          </a:p>
        </p:txBody>
      </p:sp>
      <p:sp>
        <p:nvSpPr>
          <p:cNvPr id="3" name="スライド番号プレースホルダー 2"/>
          <p:cNvSpPr>
            <a:spLocks noGrp="1"/>
          </p:cNvSpPr>
          <p:nvPr>
            <p:ph type="sldNum" sz="quarter" idx="12"/>
          </p:nvPr>
        </p:nvSpPr>
        <p:spPr/>
        <p:txBody>
          <a:bodyPr/>
          <a:lstStyle/>
          <a:p>
            <a:fld id="{6651ECFF-2854-424D-8B49-D94BBB1FBBE7}" type="slidenum">
              <a:rPr kumimoji="1" lang="ja-JP" altLang="en-US" smtClean="0"/>
              <a:t>6</a:t>
            </a:fld>
            <a:endParaRPr kumimoji="1" lang="ja-JP" altLang="en-US"/>
          </a:p>
        </p:txBody>
      </p:sp>
      <p:pic>
        <p:nvPicPr>
          <p:cNvPr id="4" name="図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0574" y="1606549"/>
            <a:ext cx="3527425" cy="3527425"/>
          </a:xfrm>
          <a:prstGeom prst="rect">
            <a:avLst/>
          </a:prstGeom>
        </p:spPr>
      </p:pic>
      <p:sp>
        <p:nvSpPr>
          <p:cNvPr id="6" name="正方形/長方形 5"/>
          <p:cNvSpPr/>
          <p:nvPr/>
        </p:nvSpPr>
        <p:spPr>
          <a:xfrm>
            <a:off x="930259" y="5577593"/>
            <a:ext cx="8002073" cy="646331"/>
          </a:xfrm>
          <a:prstGeom prst="rect">
            <a:avLst/>
          </a:prstGeom>
        </p:spPr>
        <p:txBody>
          <a:bodyPr wrap="square">
            <a:spAutoFit/>
          </a:bodyPr>
          <a:lstStyle/>
          <a:p>
            <a:r>
              <a:rPr lang="ja-JP" altLang="en-US" dirty="0"/>
              <a:t>シンボルマーク・めいじろう </a:t>
            </a:r>
            <a:r>
              <a:rPr lang="en-US" altLang="ja-JP" dirty="0"/>
              <a:t>| </a:t>
            </a:r>
            <a:r>
              <a:rPr lang="ja-JP" altLang="en-US" dirty="0"/>
              <a:t>明治大学 から引用</a:t>
            </a:r>
          </a:p>
          <a:p>
            <a:r>
              <a:rPr lang="en-US" altLang="ja-JP" dirty="0"/>
              <a:t>https://www.meiji.ac.jp/koho/information/symbol/index.html</a:t>
            </a:r>
            <a:endParaRPr lang="ja-JP" altLang="en-US" dirty="0"/>
          </a:p>
        </p:txBody>
      </p:sp>
    </p:spTree>
    <p:extLst>
      <p:ext uri="{BB962C8B-B14F-4D97-AF65-F5344CB8AC3E}">
        <p14:creationId xmlns:p14="http://schemas.microsoft.com/office/powerpoint/2010/main" val="2601672044"/>
      </p:ext>
    </p:extLst>
  </p:cSld>
  <p:clrMapOvr>
    <a:masterClrMapping/>
  </p:clrMapOvr>
  <p:timing>
    <p:tnLst>
      <p:par>
        <p:cTn id="1" dur="indefinite" restart="never" nodeType="tmRoot"/>
      </p:par>
    </p:tnLst>
  </p:timing>
</p:sld>
</file>

<file path=ppt/theme/theme1.xml><?xml version="1.0" encoding="utf-8"?>
<a:theme xmlns:a="http://schemas.openxmlformats.org/drawingml/2006/main" name="ファセット">
  <a:themeElements>
    <a:clrScheme name="紫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ファセット">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ファセット">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51</TotalTime>
  <Words>150</Words>
  <Application>Microsoft Office PowerPoint</Application>
  <PresentationFormat>ワイド画面</PresentationFormat>
  <Paragraphs>39</Paragraphs>
  <Slides>6</Slides>
  <Notes>1</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6</vt:i4>
      </vt:variant>
    </vt:vector>
  </HeadingPairs>
  <TitlesOfParts>
    <vt:vector size="13" baseType="lpstr">
      <vt:lpstr>ＭＳ Ｐゴシック</vt:lpstr>
      <vt:lpstr>メイリオ</vt:lpstr>
      <vt:lpstr>Arial</vt:lpstr>
      <vt:lpstr>Calibri</vt:lpstr>
      <vt:lpstr>Trebuchet MS</vt:lpstr>
      <vt:lpstr>Wingdings 3</vt:lpstr>
      <vt:lpstr>ファセット</vt:lpstr>
      <vt:lpstr>明治大学について</vt:lpstr>
      <vt:lpstr>目次</vt:lpstr>
      <vt:lpstr>明治大学の理念</vt:lpstr>
      <vt:lpstr>データでみる明治大学</vt:lpstr>
      <vt:lpstr>明治大学生田キャンパスへのアクセス</vt:lpstr>
      <vt:lpstr>明治大学公式キャラクター「めいじろう」</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KIKUCHI Takafumi</dc:creator>
  <cp:lastModifiedBy>KIKUCHI Takafumi</cp:lastModifiedBy>
  <cp:revision>12</cp:revision>
  <dcterms:created xsi:type="dcterms:W3CDTF">2020-04-25T00:32:17Z</dcterms:created>
  <dcterms:modified xsi:type="dcterms:W3CDTF">2020-04-25T03:46:08Z</dcterms:modified>
</cp:coreProperties>
</file>