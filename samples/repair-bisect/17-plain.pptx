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ノート 1 行目</a:t>
            </a:r>
            <a:endParaRPr lang="en-US" dirty="0"/>
          </a:p>
          <a:p>
            <a:r>
              <a:rPr lang="en-US" dirty="0"/>
              <a:t>ノート 2 行目</a:t>
            </a:r>
            <a:endParaRPr lang="en-US" dirty="0"/>
          </a:p>
          <a:p>
            <a:r>
              <a:rPr lang="en-US" dirty="0"/>
              <a:t>• 箇条書き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" TargetMode="External"/><Relationship Id="rId2" Type="http://schemas.openxmlformats.org/officeDocument/2006/relationships/slide" Target="slide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.dev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00"/>
              </a:lnSpc>
              <a:spcAft>
                <a:spcPts val="1570"/>
              </a:spcAft>
              <a:buNone/>
            </a:pPr>
            <a:r>
              <a:rPr lang="ja-JP" altLang="en-US" sz="5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受入テスト</a:t>
            </a:r>
            <a:endParaRPr lang="ja-JP" sz="588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>
                    <a:alpha val="5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Markdown で書くスライド</a:t>
            </a:r>
            <a:endParaRPr lang="ja-JP" sz="17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>
                    <a:alpha val="7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裸のテキスト（div の中の span）</a:t>
            </a:r>
            <a:endParaRPr lang="ja-JP" sz="1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箇条書きと書式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 fontScale="94000" lnSpcReduction="10000"/>
          </a:bodyPr>
          <a:lstStyle/>
          <a:p>
            <a:pPr algn="l" marL="342900" indent="-34290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SzPct val="100000"/>
              <a:buChar char="▪"/>
            </a:pPr>
            <a:r>
              <a:rPr lang="ja-JP" altLang="en-US" sz="172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太字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と </a:t>
            </a:r>
            <a:r>
              <a:rPr lang="ja-JP" altLang="en-US" sz="1720" i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斜体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と 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</a:t>
            </a:r>
            <a:endParaRPr lang="ja-JP" sz="1720" dirty="0"/>
          </a:p>
          <a:p>
            <a:pPr algn="l" marL="342900" indent="-34290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SzPct val="100000"/>
              <a:buChar char="▪"/>
            </a:pPr>
            <a:r>
              <a:rPr lang="ja-JP" altLang="en-US" sz="1720" u="sng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外部リンク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と </a:t>
            </a:r>
            <a:r>
              <a:rPr lang="ja-JP" altLang="en-US" sz="1720" u="sng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枚目</a:t>
            </a:r>
            <a:endParaRPr lang="ja-JP" sz="1720" dirty="0"/>
          </a:p>
          <a:p>
            <a:pPr algn="l" lvl="1" marL="6858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入れ子 </a:t>
            </a:r>
            <a:r>
              <a:rPr lang="ja-JP" altLang="en-US" sz="1720" strike="sngStrike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取り消し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  <a:r>
              <a:rPr lang="ja-JP" altLang="en-US" sz="1720" u="sng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下線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H</a:t>
            </a:r>
            <a:r>
              <a:rPr lang="ja-JP" altLang="en-US" sz="1290" baseline="-40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 x</a:t>
            </a:r>
            <a:r>
              <a:rPr lang="ja-JP" altLang="en-US" sz="1290" baseline="3000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ja-JP" sz="1720" dirty="0"/>
          </a:p>
          <a:p>
            <a:pPr algn="l" marL="342900" indent="-34290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highlight>
                  <a:srgbClr val="FFFF00"/>
                </a:highlight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マーク</a:t>
            </a:r>
            <a:endParaRPr lang="ja-JP" sz="1720" dirty="0"/>
          </a:p>
          <a:p>
            <a:pPr algn="l" marL="342900" indent="-34290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箇条書きの中の表（W-LI-BLOCK）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Font typeface="+mj-lt"/>
              <a:buAutoNum type="arabicPeriod" startAt="1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番号 1</a:t>
            </a:r>
            <a:endParaRPr lang="ja-JP" sz="1720" dirty="0"/>
          </a:p>
          <a:p>
            <a:pPr algn="l" marL="342900" indent="-342900">
              <a:lnSpc>
                <a:spcPct val="180000"/>
              </a:lnSpc>
              <a:buSzPct val="100000"/>
              <a:buFont typeface="+mj-lt"/>
              <a:buAutoNum type="arabicPeriod" startAt="2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番号 2</a:t>
            </a:r>
            <a:endParaRPr lang="ja-JP" sz="1720" dirty="0"/>
          </a:p>
          <a:p>
            <a:pPr algn="l" indent="0" marL="0">
              <a:lnSpc>
                <a:spcPct val="150000"/>
              </a:lnSpc>
              <a:spcBef>
                <a:spcPts val="1570"/>
              </a:spcBef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クリックの文（v-click は装飾を持たない div）</a:t>
            </a:r>
            <a:endParaRPr lang="ja-JP" sz="1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段組の左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995265"/>
            <a:ext cx="5200261" cy="64692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1</a:t>
            </a:r>
            <a:endParaRPr lang="ja-JP" sz="1180" dirty="0"/>
          </a:p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</a:t>
            </a:r>
            <a:endParaRPr lang="ja-JP" sz="1180" dirty="0"/>
          </a:p>
        </p:txBody>
      </p:sp>
      <p:sp>
        <p:nvSpPr>
          <p:cNvPr id="4" name="Body 2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右の見出し</a:t>
            </a:r>
            <a:endParaRPr lang="ja-JP" sz="2940" dirty="0"/>
          </a:p>
          <a:p>
            <a:pPr algn="l" marL="342900" indent="-342900">
              <a:lnSpc>
                <a:spcPct val="180000"/>
              </a:lnSpc>
              <a:buSzPct val="100000"/>
              <a:buChar char="▪"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右の箇条書き</a:t>
            </a:r>
            <a:endParaRPr lang="ja-JP" sz="2940" dirty="0"/>
          </a:p>
        </p:txBody>
      </p:sp>
      <p:sp>
        <p:nvSpPr>
          <p:cNvPr id="5" name="Text 4"/>
          <p:cNvSpPr txBox="1"/>
          <p:nvPr/>
        </p:nvSpPr>
        <p:spPr>
          <a:xfrm>
            <a:off x="6295053" y="1339752"/>
            <a:ext cx="5200261" cy="398106"/>
          </a:xfrm>
          <a:prstGeom prst="roundRect">
            <a:avLst>
              <a:gd name="adj" fmla="val 12500"/>
            </a:avLst>
          </a:prstGeom>
          <a:solidFill>
            <a:srgbClr val="F5F5F5"/>
          </a:solidFill>
          <a:ln/>
        </p:spPr>
        <p:txBody>
          <a:bodyPr wrap="square" lIns="99060" tIns="49530" rIns="99060" bIns="49530" rtlCol="0" anchor="t">
            <a:normAutofit/>
          </a:bodyPr>
          <a:lstStyle/>
          <a:p>
            <a:pPr algn="l" indent="0" marL="0">
              <a:lnSpc>
                <a:spcPct val="171400"/>
              </a:lnSpc>
              <a:buNone/>
            </a:pPr>
            <a:r>
              <a:rPr lang="ja-JP" altLang="en-US" sz="1370" dirty="0">
                <a:solidFill>
                  <a:srgbClr val="1B1B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引用の段落</a:t>
            </a:r>
            <a:endParaRPr lang="ja-JP" sz="13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表と線</a:t>
            </a:r>
            <a:endParaRPr lang="ja-JP" sz="294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686" y="945502"/>
          <a:ext cx="10798629" cy="1911780"/>
        </p:xfrm>
        <a:graphic>
          <a:graphicData uri="http://schemas.openxmlformats.org/drawingml/2006/table">
            <a:tbl>
              <a:tblPr/>
              <a:tblGrid>
                <a:gridCol w="7004553"/>
                <a:gridCol w="3794076"/>
              </a:tblGrid>
              <a:tr h="633113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名前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用途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66700"/>
                        </a:lnSpc>
                        <a:buNone/>
                      </a:pPr>
                      <a:r>
                        <a:rPr lang="ja-JP" altLang="en-US" sz="1550" dirty="0">
                          <a:solidFill>
                            <a:srgbClr val="000000"/>
                          </a:solidFill>
                          <a:highlight>
                            <a:srgbClr val="F5F5F5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通常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33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cover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50000"/>
                        </a:lnSpc>
                        <a:buNone/>
                      </a:pPr>
                      <a:r>
                        <a:rPr lang="ja-JP" altLang="en-US" sz="172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表紙</a:t>
                      </a:r>
                      <a:endParaRPr lang="ja-JP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9060" marR="99060" marT="149860" marB="1498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ine 3"/>
          <p:cNvSpPr/>
          <p:nvPr/>
        </p:nvSpPr>
        <p:spPr>
          <a:xfrm>
            <a:off x="696686" y="2863503"/>
            <a:ext cx="10798629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4"/>
          <p:cNvSpPr txBox="1"/>
          <p:nvPr/>
        </p:nvSpPr>
        <p:spPr>
          <a:xfrm>
            <a:off x="696686" y="3074997"/>
            <a:ext cx="10798629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段落のあとの表（区切りブロックで枠が割れる）</a:t>
            </a:r>
            <a:endParaRPr lang="ja-JP" sz="1720" dirty="0"/>
          </a:p>
        </p:txBody>
      </p:sp>
      <p:pic>
        <p:nvPicPr>
          <p:cNvPr id="6" name="Image 5" descr="代替文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3572629"/>
            <a:ext cx="1492898" cy="373224"/>
          </a:xfrm>
          <a:prstGeom prst="rect">
            <a:avLst/>
          </a:prstGeom>
        </p:spPr>
      </p:pic>
      <p:pic>
        <p:nvPicPr>
          <p:cNvPr id="7" name="Image 6" descr="リンクつき画像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3945854"/>
            <a:ext cx="1492898" cy="373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数式と図</a:t>
            </a:r>
            <a:endParaRPr lang="ja-JP" sz="294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インライン </a:t>
            </a:r>
            <a:r>
              <a:rPr lang="ja-JP" altLang="en-US" sz="2090" i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E=mc2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を含む段落。</a:t>
            </a:r>
            <a:endParaRPr lang="ja-JP" sz="1720" dirty="0"/>
          </a:p>
        </p:txBody>
      </p:sp>
      <p:pic>
        <p:nvPicPr>
          <p:cNvPr id="4" name="Replaced 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1706134"/>
            <a:ext cx="10798629" cy="655880"/>
          </a:xfrm>
          <a:prstGeom prst="rect">
            <a:avLst/>
          </a:prstGeom>
        </p:spPr>
      </p:pic>
      <p:pic>
        <p:nvPicPr>
          <p:cNvPr id="5" name="Replaced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2580847"/>
            <a:ext cx="10798629" cy="962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装飾つきの箱と未知の要素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945502"/>
            <a:ext cx="5250024" cy="1447987"/>
          </a:xfrm>
          <a:prstGeom prst="roundRect">
            <a:avLst>
              <a:gd name="adj" fmla="val 6873"/>
            </a:avLst>
          </a:prstGeom>
          <a:solidFill>
            <a:srgbClr val="3B82F6">
              <a:alpha val="20000"/>
            </a:srgbClr>
          </a:solidFill>
          <a:ln/>
        </p:spPr>
        <p:txBody>
          <a:bodyPr wrap="square" lIns="298450" tIns="298450" rIns="298450" bIns="29845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ja-JP" sz="294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塗りのある箱（規則 13）</a:t>
            </a:r>
            <a:endParaRPr lang="ja-JP" sz="2940" dirty="0"/>
          </a:p>
        </p:txBody>
      </p:sp>
      <p:sp>
        <p:nvSpPr>
          <p:cNvPr id="4" name="Text 3"/>
          <p:cNvSpPr txBox="1"/>
          <p:nvPr/>
        </p:nvSpPr>
        <p:spPr>
          <a:xfrm>
            <a:off x="6543869" y="1244082"/>
            <a:ext cx="4652865" cy="32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影つき（W-CSS）</a:t>
            </a:r>
            <a:endParaRPr lang="ja-JP" sz="1720" dirty="0"/>
          </a:p>
        </p:txBody>
      </p:sp>
      <p:sp>
        <p:nvSpPr>
          <p:cNvPr id="5" name="Text 4"/>
          <p:cNvSpPr txBox="1"/>
          <p:nvPr/>
        </p:nvSpPr>
        <p:spPr>
          <a:xfrm>
            <a:off x="6543869" y="1622158"/>
            <a:ext cx="4652865" cy="422988"/>
          </a:xfrm>
          <a:prstGeom prst="roundRect">
            <a:avLst>
              <a:gd name="adj" fmla="val 11765"/>
            </a:avLst>
          </a:prstGeom>
          <a:solidFill>
            <a:srgbClr val="F5F5F5"/>
          </a:solidFill>
          <a:ln/>
        </p:spPr>
        <p:txBody>
          <a:bodyPr wrap="square" lIns="99060" tIns="99060" rIns="99060" bIns="9906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39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inside = 'box'</a:t>
            </a:r>
            <a:endParaRPr lang="ja-JP" sz="1180" dirty="0"/>
          </a:p>
        </p:txBody>
      </p:sp>
      <p:pic>
        <p:nvPicPr>
          <p:cNvPr id="6" name="Replaced 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2592542"/>
            <a:ext cx="2602868" cy="452721"/>
          </a:xfrm>
          <a:prstGeom prst="rect">
            <a:avLst/>
          </a:prstGeom>
        </p:spPr>
      </p:pic>
      <p:pic>
        <p:nvPicPr>
          <p:cNvPr id="7" name="Replaced 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6" y="3045263"/>
            <a:ext cx="2488163" cy="248816"/>
          </a:xfrm>
          <a:prstGeom prst="rect">
            <a:avLst/>
          </a:prstGeom>
        </p:spPr>
      </p:pic>
      <p:sp>
        <p:nvSpPr>
          <p:cNvPr id="8" name="Image 7"/>
          <p:cNvSpPr/>
          <p:nvPr/>
        </p:nvSpPr>
        <p:spPr>
          <a:xfrm>
            <a:off x="696686" y="3294079"/>
            <a:ext cx="995265" cy="1313253"/>
          </a:xfrm>
          <a:prstGeom prst="rect">
            <a:avLst/>
          </a:prstGeom>
          <a:solidFill>
            <a:srgbClr val="BFBFBF"/>
          </a:solidFill>
          <a:ln w="6350">
            <a:solidFill>
              <a:srgbClr val="999999"/>
            </a:solidFill>
            <a:prstDash val="solid"/>
          </a:ln>
        </p:spPr>
      </p:sp>
      <p:pic>
        <p:nvPicPr>
          <p:cNvPr id="9" name="Replaced 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6" y="4657095"/>
            <a:ext cx="10798629" cy="422988"/>
          </a:xfrm>
          <a:prstGeom prst="rect">
            <a:avLst/>
          </a:prstGeom>
        </p:spPr>
      </p:pic>
      <p:sp>
        <p:nvSpPr>
          <p:cNvPr id="10" name="handwritten"/>
          <p:cNvSpPr txBox="1"/>
          <p:nvPr/>
        </p:nvSpPr>
        <p:spPr>
          <a:xfrm>
            <a:off x="7464490" y="4976327"/>
            <a:ext cx="3732245" cy="31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手書きの </a:t>
            </a:r>
            <a:r>
              <a:rPr lang="ja-JP" altLang="en-US" sz="1550" dirty="0">
                <a:solidFill>
                  <a:srgbClr val="000000"/>
                </a:solidFill>
                <a:highlight>
                  <a:srgbClr val="F5F5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data-ppt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（規則 2 の代用）</a:t>
            </a:r>
            <a:endParaRPr lang="ja-JP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algn="ctr" indent="0" marL="0">
              <a:lnSpc>
                <a:spcPct val="111100"/>
              </a:lnSpc>
              <a:spcAft>
                <a:spcPts val="1570"/>
              </a:spcAft>
              <a:buNone/>
            </a:pPr>
            <a:r>
              <a:rPr lang="ja-JP" altLang="en-US" sz="353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中央</a:t>
            </a:r>
            <a:endParaRPr lang="ja-JP" sz="353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6400"/>
              </a:lnSpc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>
                    <a:alpha val="5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中央の段落</a:t>
            </a:r>
            <a:endParaRPr lang="ja-JP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659363" y="2836506"/>
            <a:ext cx="10835951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300"/>
              </a:lnSpc>
              <a:spcAft>
                <a:spcPts val="1570"/>
              </a:spcAft>
              <a:buNone/>
            </a:pPr>
            <a:r>
              <a:rPr lang="ja-JP" altLang="en-US" sz="5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章の区切り（対応表に無い）</a:t>
            </a:r>
            <a:endParaRPr lang="ja-JP" sz="5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696686" y="497633"/>
            <a:ext cx="4702629" cy="44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右に画像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1144555"/>
            <a:ext cx="4702629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左の本文</a:t>
            </a:r>
            <a:endParaRPr lang="ja-JP" sz="1720" dirty="0"/>
          </a:p>
        </p:txBody>
      </p:sp>
      <p:pic>
        <p:nvPicPr>
          <p:cNvPr id="4" name="Image 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673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300"/>
              </a:lnSpc>
              <a:spcAft>
                <a:spcPts val="1570"/>
              </a:spcAft>
              <a:buNone/>
            </a:pPr>
            <a:r>
              <a:rPr lang="ja-JP" altLang="en-US" sz="588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背景画像つきの表紙</a:t>
            </a:r>
            <a:endParaRPr lang="ja-JP" sz="5880" dirty="0"/>
          </a:p>
        </p:txBody>
      </p:sp>
      <p:sp>
        <p:nvSpPr>
          <p:cNvPr id="4" name="Body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FFFFFF">
                    <a:alpha val="50000"/>
                  </a:srgbClr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副題</a:t>
            </a:r>
            <a:endParaRPr lang="ja-JP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35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zoom のスライド</a:t>
            </a:r>
            <a:endParaRPr lang="ja-JP" sz="2350" dirty="0"/>
          </a:p>
        </p:txBody>
      </p:sp>
      <p:sp>
        <p:nvSpPr>
          <p:cNvPr id="3" name="Body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250"/>
              </a:spcBef>
              <a:spcAft>
                <a:spcPts val="1250"/>
              </a:spcAft>
              <a:buNone/>
            </a:pPr>
            <a:r>
              <a:rPr lang="ja-JP" altLang="en-US" sz="13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縮小されている本文</a:t>
            </a:r>
            <a:endParaRPr lang="ja-JP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はみ出し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0" y="2488163"/>
            <a:ext cx="1990531" cy="328313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左にはみ出した箱</a:t>
            </a:r>
            <a:endParaRPr lang="ja-JP" sz="1720" dirty="0"/>
          </a:p>
        </p:txBody>
      </p:sp>
      <p:sp>
        <p:nvSpPr>
          <p:cNvPr id="4" name="Text 3"/>
          <p:cNvSpPr txBox="1"/>
          <p:nvPr/>
        </p:nvSpPr>
        <p:spPr>
          <a:xfrm>
            <a:off x="11196735" y="3732245"/>
            <a:ext cx="995265" cy="328313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右にはみ出した箱</a:t>
            </a:r>
            <a:endParaRPr lang="ja-JP" sz="1720" dirty="0"/>
          </a:p>
        </p:txBody>
      </p:sp>
      <p:sp>
        <p:nvSpPr>
          <p:cNvPr id="5" name="Text 4"/>
          <p:cNvSpPr txBox="1"/>
          <p:nvPr/>
        </p:nvSpPr>
        <p:spPr>
          <a:xfrm>
            <a:off x="3732245" y="4727510"/>
            <a:ext cx="3732245" cy="497633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溢れる本文 1 行目</a:t>
            </a:r>
            <a:br/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</a:t>
            </a:r>
            <a:br/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</a:t>
            </a:r>
            <a:br/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 行目</a:t>
            </a:r>
            <a:br/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 行目</a:t>
            </a:r>
            <a:br/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 行目（W-OVERFLOW）</a:t>
            </a:r>
            <a:endParaRPr lang="ja-JP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/>
        </p:nvSpPr>
        <p:spPr>
          <a:xfrm>
            <a:off x="696686" y="497633"/>
            <a:ext cx="10798629" cy="44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共通の見出し（col-header）</a:t>
            </a:r>
            <a:endParaRPr lang="ja-JP" sz="2940" dirty="0"/>
          </a:p>
        </p:txBody>
      </p:sp>
      <p:sp>
        <p:nvSpPr>
          <p:cNvPr id="3" name="Text 2"/>
          <p:cNvSpPr txBox="1"/>
          <p:nvPr/>
        </p:nvSpPr>
        <p:spPr>
          <a:xfrm>
            <a:off x="696686" y="1144555"/>
            <a:ext cx="5399314" cy="79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左の文と段落の中の 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インライン SVG（W-INLINE）</a:t>
            </a:r>
            <a:endParaRPr lang="ja-JP" sz="1720" dirty="0"/>
          </a:p>
        </p:txBody>
      </p:sp>
      <p:sp>
        <p:nvSpPr>
          <p:cNvPr id="4" name="Text 3"/>
          <p:cNvSpPr txBox="1"/>
          <p:nvPr/>
        </p:nvSpPr>
        <p:spPr>
          <a:xfrm>
            <a:off x="6096000" y="1144555"/>
            <a:ext cx="5399314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右の文と </a:t>
            </a: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相対リンク（W-LINK）</a:t>
            </a:r>
            <a:endParaRPr lang="ja-JP" sz="1720" dirty="0"/>
          </a:p>
        </p:txBody>
      </p:sp>
      <p:sp>
        <p:nvSpPr>
          <p:cNvPr id="5" name="Text 4"/>
          <p:cNvSpPr txBox="1"/>
          <p:nvPr/>
        </p:nvSpPr>
        <p:spPr>
          <a:xfrm>
            <a:off x="696686" y="5872065"/>
            <a:ext cx="10798629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400"/>
              </a:lnSpc>
              <a:spcBef>
                <a:spcPts val="1570"/>
              </a:spcBef>
              <a:spcAft>
                <a:spcPts val="1570"/>
              </a:spcAft>
              <a:buNone/>
            </a:pPr>
            <a:r>
              <a:rPr lang="ja-JP" altLang="en-US" sz="172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下の文（col-bottom）</a:t>
            </a:r>
            <a:endParaRPr lang="ja-JP" sz="1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受入テスト用デッキ（部品なし）</dc:title>
  <dc:subject>PptxGenJS Presentation</dc:subject>
  <dc:creator>PptxGenJS</dc:creator>
  <cp:lastModifiedBy>PptxGenJS</cp:lastModifiedBy>
  <cp:revision>1</cp:revision>
  <dcterms:created xsi:type="dcterms:W3CDTF">2026-09-14T05:13:29Z</dcterms:created>
  <dcterms:modified xsi:type="dcterms:W3CDTF">2026-09-14T05:13:29Z</dcterms:modified>
</cp:coreProperties>
</file>