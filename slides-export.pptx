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発表者ノートはここに書く。発表者モードでだけ表示される。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sli.dev" TargetMode="Externa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300"/>
              </a:lnSpc>
              <a:spcAft>
                <a:spcPts val="1570"/>
              </a:spcAft>
              <a:buNone/>
            </a:pPr>
            <a:r>
              <a:rPr lang="ja-JP" altLang="en-US" sz="5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Slidev 入門</a:t>
            </a:r>
            <a:endParaRPr lang="ja-JP" sz="5880" dirty="0"/>
          </a:p>
        </p:txBody>
      </p:sp>
      <p:sp>
        <p:nvSpPr>
          <p:cNvPr id="3" name="Body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400"/>
              </a:lnSpc>
              <a:spcAft>
                <a:spcPts val="1570"/>
              </a:spcAft>
              <a:buNone/>
            </a:pPr>
            <a:r>
              <a:rPr lang="ja-JP" altLang="en-US" sz="1720" dirty="0">
                <a:solidFill>
                  <a:srgbClr val="000000">
                    <a:alpha val="50000"/>
                  </a:srgbClr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Markdown で書く、開発者のためのスライド</a:t>
            </a:r>
            <a:endParaRPr lang="ja-JP" sz="172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720" dirty="0">
                <a:solidFill>
                  <a:srgbClr val="000000">
                    <a:alpha val="70000"/>
                  </a:srgbClr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Space / → で次へ</a:t>
            </a:r>
            <a:endParaRPr lang="ja-JP" sz="1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Slidev とは</a:t>
            </a:r>
            <a:endParaRPr lang="ja-JP" sz="2940" dirty="0"/>
          </a:p>
        </p:txBody>
      </p:sp>
      <p:sp>
        <p:nvSpPr>
          <p:cNvPr id="3" name="Body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algn="l" marL="342900" indent="-342900">
              <a:lnSpc>
                <a:spcPct val="180000"/>
              </a:lnSpc>
              <a:buSzPct val="100000"/>
              <a:buChar char="▪"/>
            </a:pPr>
            <a:r>
              <a:rPr lang="ja-JP" altLang="en-US" sz="172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Markdown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でスライドを書くツール</a:t>
            </a:r>
            <a:endParaRPr lang="ja-JP" sz="1720" dirty="0"/>
          </a:p>
          <a:p>
            <a:pPr algn="l" marL="342900" indent="-342900">
              <a:lnSpc>
                <a:spcPct val="180000"/>
              </a:lnSpc>
              <a:buSzPct val="100000"/>
              <a:buChar char="▪"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中身は </a:t>
            </a:r>
            <a:r>
              <a:rPr lang="ja-JP" altLang="en-US" sz="172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Vite + Vue 3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で動く Web アプリ</a:t>
            </a:r>
            <a:endParaRPr lang="ja-JP" sz="1720" dirty="0"/>
          </a:p>
          <a:p>
            <a:pPr algn="l" marL="342900" indent="-342900">
              <a:lnSpc>
                <a:spcPct val="180000"/>
              </a:lnSpc>
              <a:buSzPct val="100000"/>
              <a:buChar char="▪"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コードのハイライト、アニメーション、図表を標準で持つ</a:t>
            </a:r>
            <a:endParaRPr lang="ja-JP" sz="1720" dirty="0"/>
          </a:p>
          <a:p>
            <a:pPr algn="l" marL="342900" indent="-342900">
              <a:lnSpc>
                <a:spcPct val="180000"/>
              </a:lnSpc>
              <a:buSzPct val="100000"/>
              <a:buChar char="▪"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テーマやアドオンを npm パッケージとして配れる</a:t>
            </a:r>
            <a:endParaRPr lang="ja-JP" sz="1720" dirty="0"/>
          </a:p>
          <a:p>
            <a:pPr algn="l" marL="342900" indent="-342900">
              <a:lnSpc>
                <a:spcPct val="180000"/>
              </a:lnSpc>
              <a:buSzPct val="100000"/>
              <a:buChar char="▪"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PDF / PNG / </a:t>
            </a:r>
            <a:r>
              <a:rPr lang="ja-JP" altLang="en-US" sz="172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PPTX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に書き出せる</a:t>
            </a:r>
            <a:endParaRPr lang="ja-JP" sz="1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始め方</a:t>
            </a:r>
            <a:endParaRPr lang="ja-JP" sz="2940" dirty="0"/>
          </a:p>
        </p:txBody>
      </p:sp>
      <p:sp>
        <p:nvSpPr>
          <p:cNvPr id="3" name="Text 2"/>
          <p:cNvSpPr txBox="1"/>
          <p:nvPr/>
        </p:nvSpPr>
        <p:spPr>
          <a:xfrm>
            <a:off x="696686" y="995265"/>
            <a:ext cx="5200261" cy="1990531"/>
          </a:xfrm>
          <a:prstGeom prst="roundRect">
            <a:avLst>
              <a:gd name="adj" fmla="val 2500"/>
            </a:avLst>
          </a:prstGeom>
          <a:solidFill>
            <a:srgbClr val="F5F5F5"/>
          </a:solidFill>
          <a:ln/>
        </p:spPr>
        <p:txBody>
          <a:bodyPr wrap="square" lIns="99060" tIns="99060" rIns="99060" bIns="9906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新規作成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create slidev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既存プロジェクトに入れる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add -D @slidev/cli @slidev/theme-default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開発サーバを起動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slidev</a:t>
            </a:r>
            <a:endParaRPr lang="ja-JP" sz="1180" dirty="0"/>
          </a:p>
        </p:txBody>
      </p:sp>
      <p:sp>
        <p:nvSpPr>
          <p:cNvPr id="4" name="Body 2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画面</a:t>
            </a:r>
            <a:endParaRPr lang="ja-JP" sz="2940" dirty="0"/>
          </a:p>
          <a:p>
            <a:pPr algn="l" marL="342900" indent="-342900">
              <a:lnSpc>
                <a:spcPct val="200000"/>
              </a:lnSpc>
              <a:buSzPct val="100000"/>
              <a:buChar char="▪"/>
            </a:pPr>
            <a:r>
              <a:rPr lang="ja-JP" altLang="en-US" sz="1550" dirty="0">
                <a:solidFill>
                  <a:srgbClr val="000000"/>
                </a:solidFill>
                <a:highlight>
                  <a:srgbClr val="F5F5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http://localhost:3030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で表示</a:t>
            </a:r>
            <a:endParaRPr lang="ja-JP" sz="2940" dirty="0"/>
          </a:p>
          <a:p>
            <a:pPr algn="l" marL="342900" indent="-342900">
              <a:lnSpc>
                <a:spcPct val="200000"/>
              </a:lnSpc>
              <a:buSzPct val="100000"/>
              <a:buChar char="▪"/>
            </a:pPr>
            <a:r>
              <a:rPr lang="ja-JP" altLang="en-US" sz="1550" dirty="0">
                <a:solidFill>
                  <a:srgbClr val="000000"/>
                </a:solidFill>
                <a:highlight>
                  <a:srgbClr val="F5F5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/presenter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で発表者モード</a:t>
            </a:r>
            <a:endParaRPr lang="ja-JP" sz="2940" dirty="0"/>
          </a:p>
          <a:p>
            <a:pPr algn="l" marL="342900" indent="-342900">
              <a:lnSpc>
                <a:spcPct val="200000"/>
              </a:lnSpc>
              <a:buSzPct val="100000"/>
              <a:buChar char="▪"/>
            </a:pPr>
            <a:r>
              <a:rPr lang="ja-JP" altLang="en-US" sz="1550" dirty="0">
                <a:solidFill>
                  <a:srgbClr val="000000"/>
                </a:solidFill>
                <a:highlight>
                  <a:srgbClr val="F5F5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/overview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で一覧</a:t>
            </a:r>
            <a:endParaRPr lang="ja-JP" sz="2940" dirty="0"/>
          </a:p>
          <a:p>
            <a:pPr algn="l" marL="342900" indent="-342900">
              <a:lnSpc>
                <a:spcPct val="180000"/>
              </a:lnSpc>
              <a:buSzPct val="100000"/>
              <a:buChar char="▪"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ファイルを保存すると即座に反映（HMR）</a:t>
            </a:r>
            <a:endParaRPr lang="ja-JP" sz="29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スライドの区切り方</a:t>
            </a:r>
            <a:endParaRPr lang="ja-JP" sz="2940" dirty="0"/>
          </a:p>
        </p:txBody>
      </p:sp>
      <p:sp>
        <p:nvSpPr>
          <p:cNvPr id="3" name="Body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algn="l" indent="0" marL="0">
              <a:lnSpc>
                <a:spcPct val="151500"/>
              </a:lnSpc>
              <a:spcBef>
                <a:spcPts val="1570"/>
              </a:spcBef>
              <a:spcAft>
                <a:spcPts val="1570"/>
              </a:spcAft>
              <a:buNone/>
            </a:pPr>
            <a:r>
              <a:rPr lang="ja-JP" altLang="en-US" sz="1550" dirty="0">
                <a:solidFill>
                  <a:srgbClr val="000000"/>
                </a:solidFill>
                <a:highlight>
                  <a:srgbClr val="F5F5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でスライドを区切り、直後の YAML で各スライドを設定します。</a:t>
            </a:r>
            <a:endParaRPr lang="ja-JP" sz="1550" dirty="0"/>
          </a:p>
        </p:txBody>
      </p:sp>
      <p:sp>
        <p:nvSpPr>
          <p:cNvPr id="4" name="Text 3"/>
          <p:cNvSpPr txBox="1"/>
          <p:nvPr/>
        </p:nvSpPr>
        <p:spPr>
          <a:xfrm>
            <a:off x="696686" y="1654629"/>
            <a:ext cx="10798629" cy="3110204"/>
          </a:xfrm>
          <a:prstGeom prst="roundRect">
            <a:avLst>
              <a:gd name="adj" fmla="val 1600"/>
            </a:avLst>
          </a:prstGeom>
          <a:solidFill>
            <a:srgbClr val="F5F5F5"/>
          </a:solidFill>
          <a:ln/>
        </p:spPr>
        <p:txBody>
          <a:bodyPr wrap="square" lIns="99060" tIns="99060" rIns="99060" bIns="9906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theme: default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私の発表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枚目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layout: center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class: text-center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枚目</a:t>
            </a:r>
            <a:endParaRPr lang="ja-JP" sz="1180" dirty="0"/>
          </a:p>
        </p:txBody>
      </p:sp>
      <p:sp>
        <p:nvSpPr>
          <p:cNvPr id="5" name="Text 4"/>
          <p:cNvSpPr txBox="1"/>
          <p:nvPr/>
        </p:nvSpPr>
        <p:spPr>
          <a:xfrm>
            <a:off x="696686" y="4963886"/>
            <a:ext cx="10798629" cy="298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400"/>
              </a:lnSpc>
              <a:spcBef>
                <a:spcPts val="1570"/>
              </a:spcBef>
              <a:spcAft>
                <a:spcPts val="1570"/>
              </a:spcAft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先頭の YAML（headmatter）はデッキ全体、以降はそのスライドだけに効きます。</a:t>
            </a:r>
            <a:endParaRPr lang="ja-JP" sz="1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コードのハイライト</a:t>
            </a:r>
            <a:endParaRPr lang="ja-JP" sz="2940" dirty="0"/>
          </a:p>
        </p:txBody>
      </p:sp>
      <p:sp>
        <p:nvSpPr>
          <p:cNvPr id="3" name="Body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algn="l" indent="0" marL="0">
              <a:lnSpc>
                <a:spcPct val="136400"/>
              </a:lnSpc>
              <a:spcBef>
                <a:spcPts val="1570"/>
              </a:spcBef>
              <a:spcAft>
                <a:spcPts val="1570"/>
              </a:spcAft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Shiki による色付けと、クリックごとの行強調ができます。</a:t>
            </a:r>
            <a:endParaRPr lang="ja-JP" sz="1720" dirty="0"/>
          </a:p>
        </p:txBody>
      </p:sp>
      <p:sp>
        <p:nvSpPr>
          <p:cNvPr id="4" name="Text 3"/>
          <p:cNvSpPr txBox="1"/>
          <p:nvPr/>
        </p:nvSpPr>
        <p:spPr>
          <a:xfrm>
            <a:off x="696686" y="1642188"/>
            <a:ext cx="10798629" cy="1990531"/>
          </a:xfrm>
          <a:prstGeom prst="roundRect">
            <a:avLst>
              <a:gd name="adj" fmla="val 2500"/>
            </a:avLst>
          </a:prstGeom>
          <a:solidFill>
            <a:srgbClr val="F5F5F5"/>
          </a:solidFill>
          <a:ln/>
        </p:spPr>
        <p:txBody>
          <a:bodyPr wrap="square" lIns="99060" tIns="99060" rIns="99060" bIns="9906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Talk {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string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speaker: string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duration: number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talk: Talk = { title: 'Slidev 入門', speaker: 'Yuki', duration: 20 }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console.log(`${talk.title} (${talk.duration} min)`)</a:t>
            </a:r>
            <a:endParaRPr lang="ja-JP" sz="11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アニメーション</a:t>
            </a:r>
            <a:endParaRPr lang="ja-JP" sz="2940" dirty="0"/>
          </a:p>
        </p:txBody>
      </p:sp>
      <p:sp>
        <p:nvSpPr>
          <p:cNvPr id="3" name="Text 2"/>
          <p:cNvSpPr txBox="1"/>
          <p:nvPr/>
        </p:nvSpPr>
        <p:spPr>
          <a:xfrm>
            <a:off x="696686" y="1443135"/>
            <a:ext cx="3400448" cy="1373342"/>
          </a:xfrm>
          <a:prstGeom prst="roundRect">
            <a:avLst>
              <a:gd name="adj" fmla="val 7247"/>
            </a:avLst>
          </a:prstGeom>
          <a:solidFill>
            <a:srgbClr val="3B82F6">
              <a:alpha val="20000"/>
            </a:srgbClr>
          </a:solidFill>
          <a:ln/>
        </p:spPr>
        <p:txBody>
          <a:bodyPr wrap="square" lIns="298450" tIns="298450" rIns="298450" bIns="29845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ja-JP" sz="294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v-click</a:t>
            </a:r>
            <a:endParaRPr lang="ja-JP" sz="2940" dirty="0"/>
          </a:p>
        </p:txBody>
      </p:sp>
      <p:sp>
        <p:nvSpPr>
          <p:cNvPr id="4" name="Text 3"/>
          <p:cNvSpPr txBox="1"/>
          <p:nvPr/>
        </p:nvSpPr>
        <p:spPr>
          <a:xfrm>
            <a:off x="4395714" y="1443135"/>
            <a:ext cx="3400448" cy="1373342"/>
          </a:xfrm>
          <a:prstGeom prst="roundRect">
            <a:avLst>
              <a:gd name="adj" fmla="val 7247"/>
            </a:avLst>
          </a:prstGeom>
          <a:solidFill>
            <a:srgbClr val="22C55E">
              <a:alpha val="20000"/>
            </a:srgbClr>
          </a:solidFill>
          <a:ln/>
        </p:spPr>
        <p:txBody>
          <a:bodyPr wrap="square" lIns="298450" tIns="298450" rIns="298450" bIns="29845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ja-JP" sz="294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v-after</a:t>
            </a:r>
            <a:endParaRPr lang="ja-JP" sz="2940" dirty="0"/>
          </a:p>
        </p:txBody>
      </p:sp>
      <p:sp>
        <p:nvSpPr>
          <p:cNvPr id="5" name="Text 4"/>
          <p:cNvSpPr txBox="1"/>
          <p:nvPr/>
        </p:nvSpPr>
        <p:spPr>
          <a:xfrm>
            <a:off x="8094742" y="1443135"/>
            <a:ext cx="3400573" cy="1373342"/>
          </a:xfrm>
          <a:prstGeom prst="roundRect">
            <a:avLst>
              <a:gd name="adj" fmla="val 7247"/>
            </a:avLst>
          </a:prstGeom>
          <a:solidFill>
            <a:srgbClr val="F97316">
              <a:alpha val="20000"/>
            </a:srgbClr>
          </a:solidFill>
          <a:ln/>
        </p:spPr>
        <p:txBody>
          <a:bodyPr wrap="square" lIns="298450" tIns="298450" rIns="298450" bIns="29845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ja-JP" sz="294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v-clicks</a:t>
            </a:r>
            <a:endParaRPr lang="ja-JP" sz="2940" dirty="0"/>
          </a:p>
        </p:txBody>
      </p:sp>
      <p:sp>
        <p:nvSpPr>
          <p:cNvPr id="6" name="Text 5"/>
          <p:cNvSpPr txBox="1"/>
          <p:nvPr/>
        </p:nvSpPr>
        <p:spPr>
          <a:xfrm>
            <a:off x="696686" y="3314109"/>
            <a:ext cx="10798629" cy="32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3920"/>
              </a:spcBef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クリックのたびに要素を順に出せます</a:t>
            </a:r>
            <a:endParaRPr lang="ja-JP" sz="1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図を描く（Mermaid）</a:t>
            </a:r>
            <a:endParaRPr lang="ja-JP" sz="2940" dirty="0"/>
          </a:p>
        </p:txBody>
      </p:sp>
      <p:pic>
        <p:nvPicPr>
          <p:cNvPr id="3" name="Replace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686" y="945502"/>
            <a:ext cx="10798629" cy="38937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数式（KaTeX）</a:t>
            </a:r>
            <a:endParaRPr lang="ja-JP" sz="2940" dirty="0"/>
          </a:p>
        </p:txBody>
      </p:sp>
      <p:sp>
        <p:nvSpPr>
          <p:cNvPr id="3" name="Body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algn="l" indent="0" marL="0">
              <a:lnSpc>
                <a:spcPct val="136400"/>
              </a:lnSpc>
              <a:spcBef>
                <a:spcPts val="1570"/>
              </a:spcBef>
              <a:spcAft>
                <a:spcPts val="1570"/>
              </a:spcAft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インライン </a:t>
            </a:r>
            <a:r>
              <a:rPr lang="ja-JP" altLang="en-US" sz="2090" i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E=mc2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も、ブロックも書けます。</a:t>
            </a:r>
            <a:endParaRPr lang="ja-JP" sz="1720" dirty="0"/>
          </a:p>
        </p:txBody>
      </p:sp>
      <p:pic>
        <p:nvPicPr>
          <p:cNvPr id="4" name="Replaced 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686" y="1706134"/>
            <a:ext cx="10798629" cy="6317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Vue コンポーネントを埋め込む</a:t>
            </a:r>
            <a:endParaRPr lang="ja-JP" sz="2940" dirty="0"/>
          </a:p>
        </p:txBody>
      </p:sp>
      <p:sp>
        <p:nvSpPr>
          <p:cNvPr id="3" name="Body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algn="l" indent="0" marL="0">
              <a:lnSpc>
                <a:spcPct val="136400"/>
              </a:lnSpc>
              <a:spcBef>
                <a:spcPts val="1570"/>
              </a:spcBef>
              <a:spcAft>
                <a:spcPts val="1570"/>
              </a:spcAft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Markdown の中にそのまま Vue を書けます。</a:t>
            </a:r>
            <a:endParaRPr lang="ja-JP" sz="1720" dirty="0"/>
          </a:p>
        </p:txBody>
      </p:sp>
      <p:pic>
        <p:nvPicPr>
          <p:cNvPr id="4" name="Replaced 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0505" y="1741714"/>
            <a:ext cx="1210989" cy="527366"/>
          </a:xfrm>
          <a:prstGeom prst="rect">
            <a:avLst/>
          </a:prstGeom>
        </p:spPr>
      </p:pic>
      <p:sp>
        <p:nvSpPr>
          <p:cNvPr id="5" name="Text 4"/>
          <p:cNvSpPr txBox="1"/>
          <p:nvPr/>
        </p:nvSpPr>
        <p:spPr>
          <a:xfrm>
            <a:off x="696686" y="2318844"/>
            <a:ext cx="10798629" cy="1990531"/>
          </a:xfrm>
          <a:prstGeom prst="roundRect">
            <a:avLst>
              <a:gd name="adj" fmla="val 2500"/>
            </a:avLst>
          </a:prstGeom>
          <a:solidFill>
            <a:srgbClr val="F5F5F5"/>
          </a:solidFill>
          <a:ln/>
        </p:spPr>
        <p:txBody>
          <a:bodyPr wrap="square" lIns="99060" tIns="99060" rIns="99060" bIns="9906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setup&gt;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ref } from 'vue'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count = ref(0)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&lt;template&gt;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@click="count++"&gt;count: {{ count }}&lt;/button&gt;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&lt;/template&gt;</a:t>
            </a:r>
            <a:endParaRPr lang="ja-JP" sz="1180" dirty="0"/>
          </a:p>
        </p:txBody>
      </p:sp>
      <p:sp>
        <p:nvSpPr>
          <p:cNvPr id="6" name="Text 5"/>
          <p:cNvSpPr txBox="1"/>
          <p:nvPr/>
        </p:nvSpPr>
        <p:spPr>
          <a:xfrm>
            <a:off x="696686" y="4508427"/>
            <a:ext cx="10798629" cy="31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1500"/>
              </a:lnSpc>
              <a:spcBef>
                <a:spcPts val="1570"/>
              </a:spcBef>
              <a:spcAft>
                <a:spcPts val="1570"/>
              </a:spcAft>
              <a:buNone/>
            </a:pPr>
            <a:r>
              <a:rPr lang="ja-JP" altLang="en-US" sz="1550" dirty="0">
                <a:solidFill>
                  <a:srgbClr val="000000"/>
                </a:solidFill>
                <a:highlight>
                  <a:srgbClr val="F5F5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に置いたファイルは自動で読み込まれます。</a:t>
            </a:r>
            <a:endParaRPr lang="ja-JP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主なレイアウト</a:t>
            </a:r>
            <a:endParaRPr lang="ja-JP" sz="294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6686" y="945502"/>
          <a:ext cx="5200261" cy="5108448"/>
        </p:xfrm>
        <a:graphic>
          <a:graphicData uri="http://schemas.openxmlformats.org/drawingml/2006/table">
            <a:tbl>
              <a:tblPr/>
              <a:tblGrid>
                <a:gridCol w="2917371"/>
                <a:gridCol w="2282890"/>
              </a:tblGrid>
              <a:tr h="633113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名前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用途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33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66700"/>
                        </a:lnSpc>
                        <a:buNone/>
                      </a:pPr>
                      <a:r>
                        <a:rPr lang="ja-JP" altLang="en-US" sz="1550" dirty="0">
                          <a:solidFill>
                            <a:srgbClr val="000000"/>
                          </a:solidFill>
                          <a:highlight>
                            <a:srgbClr val="F5F5F5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default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通常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33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66700"/>
                        </a:lnSpc>
                        <a:buNone/>
                      </a:pPr>
                      <a:r>
                        <a:rPr lang="ja-JP" altLang="en-US" sz="1550" dirty="0">
                          <a:solidFill>
                            <a:srgbClr val="000000"/>
                          </a:solidFill>
                          <a:highlight>
                            <a:srgbClr val="F5F5F5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cover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表紙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33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66700"/>
                        </a:lnSpc>
                        <a:buNone/>
                      </a:pPr>
                      <a:r>
                        <a:rPr lang="ja-JP" altLang="en-US" sz="1550" dirty="0">
                          <a:solidFill>
                            <a:srgbClr val="000000"/>
                          </a:solidFill>
                          <a:highlight>
                            <a:srgbClr val="F5F5F5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center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中央寄せ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33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66700"/>
                        </a:lnSpc>
                        <a:buNone/>
                      </a:pPr>
                      <a:r>
                        <a:rPr lang="ja-JP" altLang="en-US" sz="1550" dirty="0">
                          <a:solidFill>
                            <a:srgbClr val="000000"/>
                          </a:solidFill>
                          <a:highlight>
                            <a:srgbClr val="F5F5F5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two-cols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 段組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33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66700"/>
                        </a:lnSpc>
                        <a:buNone/>
                      </a:pPr>
                      <a:r>
                        <a:rPr lang="ja-JP" altLang="en-US" sz="1550" dirty="0">
                          <a:solidFill>
                            <a:srgbClr val="000000"/>
                          </a:solidFill>
                          <a:highlight>
                            <a:srgbClr val="F5F5F5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image-right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右に画像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33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66700"/>
                        </a:lnSpc>
                        <a:buNone/>
                      </a:pPr>
                      <a:r>
                        <a:rPr lang="ja-JP" altLang="en-US" sz="1550" dirty="0">
                          <a:solidFill>
                            <a:srgbClr val="000000"/>
                          </a:solidFill>
                          <a:highlight>
                            <a:srgbClr val="F5F5F5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quote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引用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33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66700"/>
                        </a:lnSpc>
                        <a:buNone/>
                      </a:pPr>
                      <a:r>
                        <a:rPr lang="ja-JP" altLang="en-US" sz="1550" dirty="0">
                          <a:solidFill>
                            <a:srgbClr val="000000"/>
                          </a:solidFill>
                          <a:highlight>
                            <a:srgbClr val="F5F5F5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section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章の区切り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Body 2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設定例</a:t>
            </a:r>
            <a:endParaRPr lang="ja-JP" sz="2940" dirty="0"/>
          </a:p>
        </p:txBody>
      </p:sp>
      <p:sp>
        <p:nvSpPr>
          <p:cNvPr id="5" name="Text 4"/>
          <p:cNvSpPr txBox="1"/>
          <p:nvPr/>
        </p:nvSpPr>
        <p:spPr>
          <a:xfrm>
            <a:off x="6295053" y="995265"/>
            <a:ext cx="5200261" cy="1542661"/>
          </a:xfrm>
          <a:prstGeom prst="roundRect">
            <a:avLst>
              <a:gd name="adj" fmla="val 3226"/>
            </a:avLst>
          </a:prstGeom>
          <a:solidFill>
            <a:srgbClr val="F5F5F5"/>
          </a:solidFill>
          <a:ln/>
        </p:spPr>
        <p:txBody>
          <a:bodyPr wrap="square" lIns="99060" tIns="99060" rIns="99060" bIns="9906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layout: image-right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 /photo.jpg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画像つきスライド</a:t>
            </a:r>
            <a:endParaRPr lang="ja-JP" sz="11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書き出し</a:t>
            </a:r>
            <a:endParaRPr lang="ja-JP" sz="2940" dirty="0"/>
          </a:p>
        </p:txBody>
      </p:sp>
      <p:sp>
        <p:nvSpPr>
          <p:cNvPr id="3" name="Text 2"/>
          <p:cNvSpPr txBox="1"/>
          <p:nvPr/>
        </p:nvSpPr>
        <p:spPr>
          <a:xfrm>
            <a:off x="696686" y="995265"/>
            <a:ext cx="10798629" cy="1990531"/>
          </a:xfrm>
          <a:prstGeom prst="roundRect">
            <a:avLst>
              <a:gd name="adj" fmla="val 2500"/>
            </a:avLst>
          </a:prstGeom>
          <a:solidFill>
            <a:srgbClr val="F5F5F5"/>
          </a:solidFill>
          <a:ln/>
        </p:spPr>
        <p:txBody>
          <a:bodyPr wrap="square" lIns="99060" tIns="99060" rIns="99060" bIns="9906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PDF（既定）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slidev export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PowerPoint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slidev export --format pptx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静的サイトとしてビルド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slidev build</a:t>
            </a:r>
            <a:endParaRPr lang="ja-JP" sz="1180" dirty="0"/>
          </a:p>
        </p:txBody>
      </p:sp>
      <p:sp>
        <p:nvSpPr>
          <p:cNvPr id="4" name="Text 3"/>
          <p:cNvSpPr txBox="1"/>
          <p:nvPr/>
        </p:nvSpPr>
        <p:spPr>
          <a:xfrm>
            <a:off x="696686" y="3035559"/>
            <a:ext cx="10798629" cy="709127"/>
          </a:xfrm>
          <a:prstGeom prst="roundRect">
            <a:avLst>
              <a:gd name="adj" fmla="val 7018"/>
            </a:avLst>
          </a:prstGeom>
          <a:solidFill>
            <a:srgbClr val="F5F5F5"/>
          </a:solidFill>
          <a:ln/>
        </p:spPr>
        <p:txBody>
          <a:bodyPr wrap="square" lIns="99060" tIns="49530" rIns="99060" bIns="49530" rtlCol="0" anchor="t">
            <a:normAutofit/>
          </a:bodyPr>
          <a:lstStyle/>
          <a:p>
            <a:pPr algn="l" indent="0" marL="0">
              <a:lnSpc>
                <a:spcPct val="171400"/>
              </a:lnSpc>
              <a:buNone/>
            </a:pPr>
            <a:r>
              <a:rPr lang="ja-JP" altLang="en-US" sz="1370" dirty="0">
                <a:solidFill>
                  <a:srgbClr val="1B1B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export には </a:t>
            </a:r>
            <a:r>
              <a:rPr lang="ja-JP" altLang="en-US" sz="1230" dirty="0">
                <a:solidFill>
                  <a:srgbClr val="1B1B1B"/>
                </a:solidFill>
                <a:highlight>
                  <a:srgbClr val="F5F5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playwright-chromium</a:t>
            </a:r>
            <a:r>
              <a:rPr lang="ja-JP" altLang="en-US" sz="1370" dirty="0">
                <a:solidFill>
                  <a:srgbClr val="1B1B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が必要です。 PPTX は各スライドを画像として貼るため、PowerPoint 上で文字の編集はできません。</a:t>
            </a:r>
            <a:endParaRPr lang="ja-JP" sz="13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PPT 部品</a:t>
            </a:r>
            <a:endParaRPr lang="ja-JP" sz="2940" dirty="0"/>
          </a:p>
        </p:txBody>
      </p:sp>
      <p:sp>
        <p:nvSpPr>
          <p:cNvPr id="3" name="Body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algn="l" indent="0" marL="0">
              <a:lnSpc>
                <a:spcPct val="136400"/>
              </a:lnSpc>
              <a:spcBef>
                <a:spcPts val="1570"/>
              </a:spcBef>
              <a:spcAft>
                <a:spcPts val="1570"/>
              </a:spcAft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Markdown の見出し・段落・箇条書き・表はそのままネイティブ書き出しされます。図形や座標指定が要るところだけ PPT 部品を使います。</a:t>
            </a:r>
            <a:endParaRPr lang="ja-JP" sz="1720" dirty="0"/>
          </a:p>
        </p:txBody>
      </p:sp>
      <p:sp>
        <p:nvSpPr>
          <p:cNvPr id="4" name="Shape 3"/>
          <p:cNvSpPr/>
          <p:nvPr/>
        </p:nvSpPr>
        <p:spPr>
          <a:xfrm>
            <a:off x="746449" y="4105469"/>
            <a:ext cx="1741714" cy="547396"/>
          </a:xfrm>
          <a:prstGeom prst="rightArrow">
            <a:avLst/>
          </a:prstGeom>
          <a:solidFill>
            <a:srgbClr val="3B82F6"/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72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次へ</a:t>
            </a:r>
            <a:endParaRPr lang="ja-JP" sz="1720" dirty="0"/>
          </a:p>
        </p:txBody>
      </p:sp>
      <p:sp>
        <p:nvSpPr>
          <p:cNvPr id="5" name="lead"/>
          <p:cNvSpPr txBox="1"/>
          <p:nvPr/>
        </p:nvSpPr>
        <p:spPr>
          <a:xfrm>
            <a:off x="2861388" y="3981061"/>
            <a:ext cx="3732245" cy="1206759"/>
          </a:xfrm>
          <a:prstGeom prst="roundRect">
            <a:avLst>
              <a:gd name="adj" fmla="val 8247"/>
            </a:avLst>
          </a:prstGeom>
          <a:solidFill>
            <a:srgbClr val="EEF2FF"/>
          </a:solidFill>
          <a:ln/>
        </p:spPr>
        <p:txBody>
          <a:bodyPr wrap="square" lIns="149860" tIns="149860" rIns="149860" bIns="14986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ja-JP" altLang="en-US" sz="172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座標指定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のテキスト枠。</a:t>
            </a:r>
            <a:r>
              <a:rPr lang="ja-JP" altLang="en-US" sz="1550" dirty="0">
                <a:solidFill>
                  <a:srgbClr val="000000"/>
                </a:solidFill>
                <a:highlight>
                  <a:srgbClr val="F5F5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</a:t>
            </a:r>
            <a:r>
              <a:rPr lang="ja-JP" altLang="en-US" sz="1550" dirty="0">
                <a:solidFill>
                  <a:srgbClr val="000000"/>
                </a:solidFill>
                <a:highlight>
                  <a:srgbClr val="F5F5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を書かなければ実測配置になります。</a:t>
            </a:r>
            <a:endParaRPr lang="ja-JP" sz="1720" dirty="0"/>
          </a:p>
        </p:txBody>
      </p:sp>
      <p:sp>
        <p:nvSpPr>
          <p:cNvPr id="6" name="Shape 5"/>
          <p:cNvSpPr/>
          <p:nvPr/>
        </p:nvSpPr>
        <p:spPr>
          <a:xfrm>
            <a:off x="6966857" y="3981061"/>
            <a:ext cx="1492898" cy="79621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</a:t>
            </a:r>
            <a:endParaRPr lang="ja-JP" sz="1720" dirty="0"/>
          </a:p>
        </p:txBody>
      </p:sp>
      <p:sp>
        <p:nvSpPr>
          <p:cNvPr id="7" name="Line 6"/>
          <p:cNvSpPr/>
          <p:nvPr/>
        </p:nvSpPr>
        <p:spPr>
          <a:xfrm>
            <a:off x="746449" y="5349551"/>
            <a:ext cx="771330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57388" y="3732245"/>
          <a:ext cx="2471990" cy="1911780"/>
        </p:xfrm>
        <a:graphic>
          <a:graphicData uri="http://schemas.openxmlformats.org/drawingml/2006/table">
            <a:tbl>
              <a:tblPr/>
              <a:tblGrid>
                <a:gridCol w="1178145"/>
                <a:gridCol w="1293845"/>
              </a:tblGrid>
              <a:tr h="633113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部品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出るもの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33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PptText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テキスト枠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33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PptShape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図形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1100"/>
              </a:lnSpc>
              <a:spcAft>
                <a:spcPts val="1570"/>
              </a:spcAft>
              <a:buNone/>
            </a:pPr>
            <a:r>
              <a:rPr lang="ja-JP" altLang="en-US" sz="353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ありがとうございました</a:t>
            </a:r>
            <a:endParaRPr lang="ja-JP" sz="3530" dirty="0"/>
          </a:p>
        </p:txBody>
      </p:sp>
      <p:sp>
        <p:nvSpPr>
          <p:cNvPr id="3" name="Body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6400"/>
              </a:lnSpc>
              <a:spcAft>
                <a:spcPts val="1570"/>
              </a:spcAft>
              <a:buNone/>
            </a:pPr>
            <a:r>
              <a:rPr lang="ja-JP" altLang="en-US" sz="1720" u="sng" dirty="0">
                <a:solidFill>
                  <a:srgbClr val="000000">
                    <a:alpha val="50000"/>
                  </a:srgbClr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sli.dev</a:t>
            </a:r>
            <a:endParaRPr lang="ja-JP" sz="1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Slidev 入門</dc:title>
  <dc:subject>PptxGenJS Presentation</dc:subject>
  <dc:creator>PptxGenJS</dc:creator>
  <cp:lastModifiedBy>PptxGenJS</cp:lastModifiedBy>
  <cp:revision>1</cp:revision>
  <dcterms:created xsi:type="dcterms:W3CDTF">2026-09-13T14:22:01Z</dcterms:created>
  <dcterms:modified xsi:type="dcterms:W3CDTF">2026-09-13T14:22:01Z</dcterms:modified>
</cp:coreProperties>
</file>